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0" y="33832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OF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Eigendecomposition — and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Something More General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Diagonalization, Its Limits &amp; the Road to SVD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 for Data Science &amp; Computational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Mohsin Raza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1848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0" y="16184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5973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0" y="245973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0098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down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92640" y="330098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23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14223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SVD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92640" y="41422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983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bridge to Session 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92640" y="4983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FA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directions are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special: eigenvectors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2880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971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the matrix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those directions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2880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FA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971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the limit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meet SVD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 we found that some matrices have special directions — eigenvectors — that only get scaled. Today: what if we rebuild the whole matrix out of those directions?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GEOMETRIC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Diagonalization: A = PDP⁻¹</a:t>
            </a:r>
            <a:endParaRPr lang="en-US" sz="3200" dirty="0"/>
          </a:p>
        </p:txBody>
      </p:sp>
      <p:pic>
        <p:nvPicPr>
          <p:cNvPr id="4" name="Image 0" descr="assets/diagonalization_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114300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92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what a messy matrix does: rotate into the eigenbasis — where it's just a scaling — do the scaling, then rotate back.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440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</a:t>
            </a:r>
            <a:pPr algn="ctr" indent="0" marL="0">
              <a:buNone/>
            </a:pPr>
            <a:r>
              <a:rPr lang="en-US" sz="14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P⁻¹ = P</a:t>
            </a:r>
            <a:pPr algn="ctr" indent="0" marL="0">
              <a:buNone/>
            </a:pPr>
            <a:r>
              <a:rPr lang="en-US" sz="1400" i="1" baseline="300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ctr" indent="0" marL="0">
              <a:buNone/>
            </a:pPr>
            <a:r>
              <a:rPr lang="en-US" sz="14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 only because A is symmetric, so P is orthogonal. For a general matrix, use P⁻¹ — P</a:t>
            </a:r>
            <a:pPr algn="ctr" indent="0" marL="0">
              <a:buNone/>
            </a:pPr>
            <a:r>
              <a:rPr lang="en-US" sz="1400" i="1" baseline="300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ctr" indent="0" marL="0">
              <a:buNone/>
            </a:pPr>
            <a:r>
              <a:rPr lang="en-US" sz="14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alone is not enough.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Would We Ever Want This?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Aⁿ = P Dⁿ P⁻¹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powers of D is trivial — just raise each diagonal entry. Computing Aⁿ directly means n full matrix multiplications.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26306E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97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Markov chains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47091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long-run behavior of a random process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41605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26306E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4297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diffusion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47091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influence or disease spreads through a graph over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41605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26306E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4297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transforms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&amp; robotics: applying the same operation many times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What Matrix Did We Just Use This 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766560" cy="393192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 w="15875">
            <a:solidFill>
              <a:srgbClr val="8FA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6126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square matrix.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the raccoon image from Day 1 — was that matrix square?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× 1024. Not square.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Diagonalization, as we've just built it, doesn't even apply to the exact demo shown three weeks ago.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18120" y="2606040"/>
            <a:ext cx="3108960" cy="2743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768×1024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1812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square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61120" y="3474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need a decomposition that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for any matrix — always.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or not. Diagonalizable or not. No exceptions.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reason why is in the backup slides, if you want 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TWO DIFFERENT BASES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the SVD</a:t>
            </a:r>
            <a:endParaRPr lang="en-US" sz="3200" dirty="0"/>
          </a:p>
        </p:txBody>
      </p:sp>
      <p:pic>
        <p:nvPicPr>
          <p:cNvPr id="4" name="Image 0" descr="assets/svd_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eigenvectors were directions A doesn't rotate, only scales. Singular vectors generalize that — orthogonal directions (V) still map to orthogonal directions (U), even when the direction itself is allowed to change.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32720" y="51206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the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U Σ V</a:t>
            </a:r>
            <a:pPr indent="0" marL="0">
              <a:buNone/>
            </a:pPr>
            <a:r>
              <a:rPr lang="en-US" sz="4400" b="1" baseline="30000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10515600" cy="0"/>
          </a:xfrm>
          <a:prstGeom prst="line">
            <a:avLst/>
          </a:prstGeom>
          <a:noFill/>
          <a:ln w="12700">
            <a:solidFill>
              <a:srgbClr val="8FA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6035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— left singular vectors: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basis for the output space.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— singular values: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≥ 0, ordered largest to smallest.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— right singular vectors: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basis for the input space.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2743200"/>
            <a:ext cx="4251960" cy="2514600"/>
          </a:xfrm>
          <a:prstGeom prst="roundRect">
            <a:avLst>
              <a:gd name="adj" fmla="val 2909"/>
            </a:avLst>
          </a:prstGeom>
          <a:solidFill>
            <a:srgbClr val="26306E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29260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SESSION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0" y="3337560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= λv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direction, just scaled.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Avᵢ = σᵢuᵢ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can rotate (v → u) — but orthogonal in still means orthogonal out. That's the special property now.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Shows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F4F6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Netflix Prize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on a users×movies matrix uncovered hidden taste dimensions no one hand-labeled.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F4F6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628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Semantic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40233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applied to documents×words — search engines finding topics, not keywords.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F4F6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8116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(Module 11 preview)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402336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large models cheaply leans on this same low-rank thinking.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61120" y="3474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CLOSE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matrix, no exceptions,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an SVD.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we go back to that raccoon image and finally explain why keeping just 50 of these components reconstructed something recognizable from 768.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MML §4.4, §4.5 (first half)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Diagonalization Fails Completely</a:t>
            </a:r>
            <a:endParaRPr lang="en-US" sz="2800" dirty="0"/>
          </a:p>
        </p:txBody>
      </p:sp>
      <p:pic>
        <p:nvPicPr>
          <p:cNvPr id="4" name="Image 0" descr="assets/defe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691640"/>
            <a:ext cx="4937760" cy="2057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852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matrices aren't just "non-square" — they're not diagonalizable at all, even if square.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shear matrix has a repeated eigenvalue but only one independent eigenvector direction — not enough to build a full eigenbasis.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doesn't care — it still exists.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 Rank-Deficient Matrix</a:t>
            </a:r>
            <a:endParaRPr lang="en-US" sz="2800" dirty="0"/>
          </a:p>
        </p:txBody>
      </p:sp>
      <p:pic>
        <p:nvPicPr>
          <p:cNvPr id="4" name="Image 0" descr="assets/worked_sv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554480"/>
            <a:ext cx="850392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Σ has a zero — that's the SVD directly exposing that A is rank-deficient (det(A)=0), exactly the Session 1 idea, now visible as a number instead of just "no inverse."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U = V here only because A is symmetric with no negative eigenvalues ("positive semi-definite" — all its eigenvalues are ≥ 0). In general U and V are not the same — they're bases for different spaces (output vs. input) and only coincide in special cases like this one.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U, Σ, V Come From — and Why SVD Always Exists</a:t>
            </a:r>
            <a:endParaRPr lang="en-US" sz="2800" dirty="0"/>
          </a:p>
        </p:txBody>
      </p:sp>
      <p:pic>
        <p:nvPicPr>
          <p:cNvPr id="4" name="Image 0" descr="assets/ata_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08760"/>
            <a:ext cx="9235440" cy="1691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337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V's columns are eigenvectors of A</a:t>
            </a:r>
            <a:pPr algn="ctr" indent="0" marL="0">
              <a:buNone/>
            </a:pPr>
            <a:r>
              <a:rPr lang="en-US" sz="1450" i="1" baseline="300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ctr" indent="0" marL="0">
              <a:buNone/>
            </a:pPr>
            <a:r>
              <a:rPr lang="en-US" sz="145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A; U's columns are eigenvectors of AA</a:t>
            </a:r>
            <a:pPr algn="ctr" indent="0" marL="0">
              <a:buNone/>
            </a:pPr>
            <a:r>
              <a:rPr lang="en-US" sz="1450" i="1" baseline="300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ctr" indent="0" marL="0">
              <a:buNone/>
            </a:pPr>
            <a:r>
              <a:rPr lang="en-US" sz="145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singular values are the square roots of the shared eigenvalues of either.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22960" y="4297680"/>
            <a:ext cx="10515600" cy="1965960"/>
          </a:xfrm>
          <a:prstGeom prst="roundRect">
            <a:avLst>
              <a:gd name="adj" fmla="val 3721"/>
            </a:avLst>
          </a:prstGeom>
          <a:solidFill>
            <a:srgbClr val="EAF0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443484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reason SVD has no exceptions: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450" baseline="30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AA</a:t>
            </a:r>
            <a:pPr indent="0" marL="0">
              <a:buNone/>
            </a:pPr>
            <a:r>
              <a:rPr lang="en-US" sz="1450" baseline="30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symmetric for </a:t>
            </a:r>
            <a:pPr indent="0" marL="0"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matrix A — square or not, diagonalizable or not. The spectral theorem guarantees every symmetric matrix has a full set of real, orthogonal eigenvectors, no exceptions. Diagonalization can fail on A itself; it never fails on A</a:t>
            </a:r>
            <a:pPr indent="0" marL="0">
              <a:buNone/>
            </a:pPr>
            <a:r>
              <a:rPr lang="en-US" sz="1450" baseline="30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 AA</a:t>
            </a:r>
            <a:pPr indent="0" marL="0">
              <a:buNone/>
            </a:pPr>
            <a:r>
              <a:rPr lang="en-US" sz="1450" baseline="30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That's the whole guarantee.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2 — Decompositions II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Session 2</dc:title>
  <dc:subject/>
  <dc:creator>Mohsin Raza</dc:creator>
  <cp:lastModifiedBy>Mohsin Raza</cp:lastModifiedBy>
  <cp:revision>1</cp:revision>
  <dcterms:created xsi:type="dcterms:W3CDTF">2026-09-10T13:04:07Z</dcterms:created>
  <dcterms:modified xsi:type="dcterms:W3CDTF">2026-09-10T13:04:07Z</dcterms:modified>
  <dc:description/>
  <cp:keywords/>
</cp:coreProperties>
</file>