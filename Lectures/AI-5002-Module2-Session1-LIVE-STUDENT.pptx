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0" y="-2743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3000" b="1" dirty="0">
                <a:solidFill>
                  <a:srgbClr val="FFFFFF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OF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Vectors &amp; Norms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points, embeddings, and how you measure them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1 — Vectors &amp; Norms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E2761">
                    <a:alpha val="7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Here's What the Diagnostic Showed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responses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424160" cy="137160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8191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 mechanics: solid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got Av right on the diagnostic's own example — Session 2 stays brisk on pure mechanics, as planned.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53512"/>
            <a:ext cx="10424160" cy="1371600"/>
          </a:xfrm>
          <a:prstGeom prst="roundRect">
            <a:avLst>
              <a:gd name="adj" fmla="val 6667"/>
            </a:avLst>
          </a:prstGeom>
          <a:solidFill>
            <a:srgbClr val="FCEFD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118104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Orthogonality: the real gap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547872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45% correct — the weakest result on the whole diagnostic. That's exactly what today slows down for.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489704"/>
            <a:ext cx="10424160" cy="137160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654296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didn't predict score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5084064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Self-rated confidence and actual performance barely correlated. Feeling unsure isn't a reliable signal here — in either direction.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0807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Framing, not a scoreboard — this is about how the class is calibrated, never about individual grades.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1 — Vectors &amp; Norms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E2761">
                    <a:alpha val="7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Whose Taste Is Closest to A's?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by eyeballing the numbers — no calculation yet. Take a guess.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1737360"/>
          <a:ext cx="9509760" cy="3108960"/>
        </p:xfrm>
        <a:graphic>
          <a:graphicData uri="http://schemas.openxmlformats.org/drawingml/2006/table">
            <a:tbl>
              <a:tblPr/>
              <a:tblGrid>
                <a:gridCol w="2377440"/>
                <a:gridCol w="1783080"/>
                <a:gridCol w="1783080"/>
                <a:gridCol w="1783080"/>
                <a:gridCol w="178308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Comedy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Sci-Fi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(target)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D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1206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is a vector in ℝ⁴ — a taste embedding. “Closest” is about to become a literal, computable thing.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Hook — guess first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1 — Vectors &amp; Norms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E2761">
                    <a:alpha val="7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Euclidean Distance Says...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424160" cy="2011680"/>
          </a:xfrm>
          <a:prstGeom prst="roundRect">
            <a:avLst>
              <a:gd name="adj" fmla="val 4545"/>
            </a:avLst>
          </a:prstGeom>
          <a:solidFill>
            <a:srgbClr val="FCEFD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(straight-line) distance to 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10424160" cy="2194560"/>
          </a:xfrm>
          <a:prstGeom prst="roundRect">
            <a:avLst>
              <a:gd name="adj" fmla="val 416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9776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guess: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we measure “distance” a different way — just add up the absolute differences instead — same answer, or could it differ?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Hook — first reveal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1 — Vectors &amp; Norms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E2761">
                    <a:alpha val="7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∫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Disagree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29200" cy="2011680"/>
          </a:xfrm>
          <a:prstGeom prst="roundRect">
            <a:avLst>
              <a:gd name="adj" fmla="val 4545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(taxicab) nearest to 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06440" y="1417320"/>
            <a:ext cx="5166360" cy="2011680"/>
          </a:xfrm>
          <a:prstGeom prst="roundRect">
            <a:avLst>
              <a:gd name="adj" fmla="val 4545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6080760" y="16459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08076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(Euclidean) nearest to 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1042416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8862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vocabulary, used now: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297680"/>
            <a:ext cx="9875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a user embedding. A real recommender usually skips “distance” entirely — it computes u·v, the dot product of a user and item embedding, and calls it a similarity score.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Hook — the payoff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1 — Vectors &amp; Norms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E2761">
                    <a:alpha val="7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Vector Is Three Things at Once</a:t>
            </a:r>
            <a:endParaRPr lang="en-US" sz="3000" dirty="0"/>
          </a:p>
        </p:txBody>
      </p:sp>
      <p:pic>
        <p:nvPicPr>
          <p:cNvPr id="4" name="Image 0" descr="img_vector_three_vie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234440"/>
            <a:ext cx="457200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5760720" cy="1417320"/>
          </a:xfrm>
          <a:prstGeom prst="roundRect">
            <a:avLst>
              <a:gd name="adj" fmla="val 6452"/>
            </a:avLst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List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77240" y="194767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(5, 2) — what a computer stores.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23317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weight vector or feature vector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990088"/>
            <a:ext cx="5760720" cy="1417320"/>
          </a:xfrm>
          <a:prstGeom prst="roundRect">
            <a:avLst>
              <a:gd name="adj" fmla="val 6452"/>
            </a:avLst>
          </a:prstGeom>
          <a:solidFill>
            <a:srgbClr val="F4F6FC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12724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Point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77240" y="3520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marked location on the plane.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" y="390448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data point, or an embedding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4562856"/>
            <a:ext cx="5760720" cy="1417320"/>
          </a:xfrm>
          <a:prstGeom prst="roundRect">
            <a:avLst>
              <a:gd name="adj" fmla="val 6452"/>
            </a:avLst>
          </a:prstGeom>
          <a:solidFill>
            <a:srgbClr val="F4F6FC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470001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Arrow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77240" y="509320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 from the origin.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77240" y="5477256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what norms and dot products need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58064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vector v = (5, 2) as the diagnostic. The picture shows all three views together: the dotted lines are the list (5, 2); the dot is the point; the arrow is the displacement. Which one is “correct” depends only on what question you're asking.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1 — Vectors &amp; Norms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E2761">
                    <a:alpha val="7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Operations, Worked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= (3, 1),  w = (1, 2)</a:t>
            </a:r>
            <a:endParaRPr lang="en-US" sz="1600" dirty="0"/>
          </a:p>
        </p:txBody>
      </p:sp>
      <p:pic>
        <p:nvPicPr>
          <p:cNvPr id="5" name="Image 0" descr="img_vector_add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4023360" cy="3520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9834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Addition, tip-to-tail: u + w = (4, 3)</a:t>
            </a:r>
            <a:endParaRPr lang="en-US" sz="1200" dirty="0"/>
          </a:p>
        </p:txBody>
      </p:sp>
      <p:pic>
        <p:nvPicPr>
          <p:cNvPr id="7" name="Image 1" descr="img_scalar_m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63040"/>
            <a:ext cx="4023360" cy="3520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46320" y="49834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mult.: 2u stretches, −u flips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9098280" y="1463040"/>
            <a:ext cx="2606040" cy="35204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10" name="Text 6"/>
          <p:cNvSpPr/>
          <p:nvPr/>
        </p:nvSpPr>
        <p:spPr>
          <a:xfrm>
            <a:off x="9281160" y="1691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combination: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28116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c₁u + c₂w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9281160" y="283464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sum — returns constantly all course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— operations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1 — Vectors &amp; Norms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E2761">
                    <a:alpha val="7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∫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Any Vector From Building Blocks</a:t>
            </a:r>
            <a:endParaRPr lang="en-US" sz="2700" dirty="0"/>
          </a:p>
        </p:txBody>
      </p:sp>
      <p:pic>
        <p:nvPicPr>
          <p:cNvPr id="4" name="Image 0" descr="img_ba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371600"/>
            <a:ext cx="493776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5212080" cy="3108960"/>
          </a:xfrm>
          <a:prstGeom prst="roundRect">
            <a:avLst>
              <a:gd name="adj" fmla="val 2941"/>
            </a:avLst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6916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e₁ = (1, 0)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e₂ = (0, 1)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27432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 (5, 2) = 5e₁ + 2e₂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basis is a minimal set of vectors that can build every vector in a space through linear combinations. The count of vectors in that set is the space's dimension.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48006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earns its time: Session 2's rank material is meaningless without this landing first.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— basis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1 — Vectors &amp; Norms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FFFFFF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 the Rule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9784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Suppose I asked you to invent your own rule for “how big is a vector,” with no formula given. What properties would any reasonable rule have to satisfy?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answers before the next slide.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Norms — ask first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1 — Vectors &amp; Norms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E2761">
                    <a:alpha val="7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“Distance” Actually Mean?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 computed “distance between two users” before norms were even defined. Here's the missing link.</a:t>
            </a:r>
            <a:endParaRPr lang="en-US" sz="1350" dirty="0"/>
          </a:p>
        </p:txBody>
      </p:sp>
      <p:pic>
        <p:nvPicPr>
          <p:cNvPr id="5" name="Image 0" descr="img_distance_di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600200"/>
            <a:ext cx="429768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5486400" cy="3749040"/>
          </a:xfrm>
          <a:prstGeom prst="roundRect">
            <a:avLst>
              <a:gd name="adj" fmla="val 2439"/>
            </a:avLst>
          </a:prstGeom>
          <a:solidFill>
            <a:srgbClr val="F4F6FC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8288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 measures the size of one vector.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distance(u, w) = ‖u − w‖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320040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vector u − w is literally the arrow connecting the two points — its length is the distance. Nothing new to prove: this is just the norm, applied to a difference.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55778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separate “metric” formalism needed here — every distance this course uses comes from a norm this way.)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Norms — the bridge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1 — Vectors &amp; Norms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E2761">
                    <a:alpha val="7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Something a Norm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309360" cy="1280160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Non-negativity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29000" y="1755648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be negative; zero only for the zero vector.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6309360" cy="1280160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004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Homogeneity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29000" y="3218688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‖cv‖ = |c|‖v‖ — doubling the vector doubles the size.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6309360" cy="1280160"/>
          </a:xfrm>
          <a:prstGeom prst="roundRect">
            <a:avLst>
              <a:gd name="adj" fmla="val 7143"/>
            </a:avLst>
          </a:prstGeom>
          <a:solidFill>
            <a:srgbClr val="FCEFD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6634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Triangle inequality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4681728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‖u+w‖ ≤ ‖u‖+‖w‖ — a detour is never shorter.</a:t>
            </a:r>
            <a:endParaRPr lang="en-US" sz="1250" dirty="0"/>
          </a:p>
        </p:txBody>
      </p:sp>
      <p:pic>
        <p:nvPicPr>
          <p:cNvPr id="13" name="Image 0" descr="img_triangle_ine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463040"/>
            <a:ext cx="3931920" cy="3429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086600" y="48920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triangle inequality, pictured — going directly (u+w) is never longer than the detour through u then w.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5989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function satisfying all three earns the name “norm” — which is why three totally different formulas can all be legitimate answers.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Norms — the reveal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1 — Vectors &amp; Norms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E2761">
                    <a:alpha val="7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∫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Vector, Three Honest Answers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 = (4, −3)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|4|+|−3|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55448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CEFDD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691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80560" y="21488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480560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√(4²+3²)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155448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8183880" y="1691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L∞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83880" y="21488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183880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max(4,3)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1042416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8862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formula, a model's weight vector w: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251960"/>
            <a:ext cx="98755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regression: adds ‖w‖₂² to the loss to keep weights small. Lasso: adds ‖w‖₁ instead, same goal, tends to zero weights out entirely. Both are just “penalize weight size” — details in Module 7, but the formula is already familiar.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Norms — worked example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1 — Vectors &amp; Norms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FFFFFF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Your Bet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9784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L1 budget of 1. Spend it concentrated, (1, 0) — or spread evenly, (0.5, 0.5). Both cost 1 under L1.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one has the bigger Euclidean (L2) length — concentrated, spread, or the same?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guess “same.” Check the next slide.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Norms — guess first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1 — Vectors &amp; Norms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E2761">
                    <a:alpha val="7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Concentrating Costs More Under L2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875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(1, 0)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2801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 = 1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977640" y="896112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0" y="9875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(0.5, 0.5)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0" y="12801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 ≈ 0.71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406640" y="91440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L1 cost, different L2 — squaring means one big difference costs more than several small ones adding to the same total.</a:t>
            </a:r>
            <a:endParaRPr lang="en-US" sz="1100" dirty="0"/>
          </a:p>
        </p:txBody>
      </p:sp>
      <p:pic>
        <p:nvPicPr>
          <p:cNvPr id="11" name="Image 0" descr="img_unit_bal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2194560"/>
            <a:ext cx="5943600" cy="21031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48640" y="4480560"/>
            <a:ext cx="10424160" cy="1691640"/>
          </a:xfrm>
          <a:prstGeom prst="roundRect">
            <a:avLst>
              <a:gd name="adj" fmla="val 5405"/>
            </a:avLst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46634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why User D and User E traded places earlier.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22960" y="512064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Separately: the corners you see above (L1 on the axes, none on L2) are the reason Lasso can zero out a coefficient and Ridge can't — next slide.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Norms — the payoff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1 — Vectors &amp; Norms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FFFFFF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∫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Question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L1's diamond has corners sitting exactly on the axes. L2's circle has none anywhere.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a shrinking region has to touch one of these shapes for the first time, where's it more likely to land — somewhere smooth, or right on a corner?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actual mechanism behind exactly-zero coefficients — not the budget argument from before.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Norms — a second mechanism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1 — Vectors &amp; Norms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E2761">
                    <a:alpha val="7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Lasso Actually Lands on Zero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regularized fit is found where the loss's contours first touch the norm ball as the penalty grows.</a:t>
            </a:r>
            <a:endParaRPr lang="en-US" sz="1250" dirty="0"/>
          </a:p>
        </p:txBody>
      </p:sp>
      <p:pic>
        <p:nvPicPr>
          <p:cNvPr id="5" name="Image 0" descr="img_lasso_ridge_tang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0424160" cy="3977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440680"/>
            <a:ext cx="1042416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55778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Corners are disproportionately likely contact points — many contour orientations all touch the same corner first. The circle has none to land on, so Ridge shrinks smoothly instead.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Norms — the mechanism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1 — Vectors &amp; Norms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FFFFFF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∫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(10 min)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two rows from the hook table. Compute L1 and L2 distance by hand.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37490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two norms agree on who's “nearest”?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1 — Vectors &amp; Norms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0" y="-2743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3000" b="1" dirty="0">
                <a:solidFill>
                  <a:srgbClr val="FFFFFF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Matrices &amp; Rank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directly on today's basis/dimension idea — not a new topic.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532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notebook: the recommendation demo, editable, plus a real-data version of the same L1/L2 disagreement — in R and Python.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further reading: Koren, Bell &amp; Volinsky, "Matrix Factorization Techniques for Recommender Systems" (IEEE Computer, 2009) — the real paper behind today's hook, dot products and all.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0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1 — Vectors &amp; Norms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QUICK REFERENCE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Definitions — jump here if a specific word is the problem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474720" y="13716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/ point / arrow — three views of one object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9385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74720" y="1938528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measured quantity describing a sample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5054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vector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74720" y="2505456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[vector] + [feature] — a sample's features, stacked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07238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 vector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74720" y="307238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[vector] of a model's learned parameters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36393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74720" y="363931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a model produces to represent something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474720" y="42062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size-measure satisfying 3 rules (see next slide)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47731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74720" y="4773168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[norm] of a difference: dist(u,w) = ‖u−w‖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34009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ball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474720" y="5340096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[norm], applied to a boundary — the set at distance 1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044184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aside, optional: a vector can more generally be any element of a set closed under addition and scalar multiplication (a “vector space”) — polynomials and functions qualify, not just lists of numbers. This course only ever uses ℝⁿ (ordinary lists), which is the case VMLS covers throughout; MML §2.4 has the general definition if it's ever needed.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QUICK REFERENCE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Results — restate, don't re-derive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424160" cy="1554480"/>
          </a:xfrm>
          <a:prstGeom prst="roundRect">
            <a:avLst>
              <a:gd name="adj" fmla="val 5882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function satisfying non-negativity, homogeneity, and the triangle inequality qualifies as a norm.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10424160" cy="1554480"/>
          </a:xfrm>
          <a:prstGeom prst="roundRect">
            <a:avLst>
              <a:gd name="adj" fmla="val 5882"/>
            </a:avLst>
          </a:prstGeom>
          <a:solidFill>
            <a:srgbClr val="FCEFD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4612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L1 total: concentrating in one coordinate gives the largest L2; spreading evenly gives the smallest.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why L1/L2 disagree on nearest neighbor (a distance argument).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754880"/>
            <a:ext cx="10424160" cy="1554480"/>
          </a:xfrm>
          <a:prstGeom prst="roundRect">
            <a:avLst>
              <a:gd name="adj" fmla="val 5882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9377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L1's diamond has corners on the axes; L2's circle has none. Contour-touches-corner is disproportionately likely.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5778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why Lasso can zero a coefficient and Ridge can't (a separate, optimization argument).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2026-08-27T11:49:49Z</dcterms:created>
  <dcterms:modified xsi:type="dcterms:W3CDTF">2026-08-27T11:49:50Z</dcterms:modified>
</cp:coreProperties>
</file>