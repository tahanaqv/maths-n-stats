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961120" y="3474720"/>
            <a:ext cx="2743200" cy="2743200"/>
          </a:xfrm>
          <a:prstGeom prst="rect">
            <a:avLst/>
          </a:prstGeom>
          <a:noFill/>
          <a:ln/>
        </p:spPr>
        <p:txBody>
          <a:bodyPr wrap="square" rtlCol="0" anchor="ctr"/>
          <a:lstStyle/>
          <a:p>
            <a:pPr algn="ctr" indent="0" marL="0">
              <a:buNone/>
            </a:pPr>
            <a:r>
              <a:rPr lang="en-US" sz="26000" b="1" dirty="0">
                <a:solidFill>
                  <a:srgbClr val="FFFFFF">
                    <a:alpha val="10000"/>
                  </a:srgbClr>
                </a:solidFill>
                <a:latin typeface="Cambria" pitchFamily="34" charset="0"/>
                <a:ea typeface="Cambria" pitchFamily="34" charset="-122"/>
                <a:cs typeface="Cambria" pitchFamily="34" charset="-120"/>
              </a:rPr>
              <a:t>Σ</a:t>
            </a:r>
            <a:endParaRPr lang="en-US" sz="26000" dirty="0"/>
          </a:p>
        </p:txBody>
      </p:sp>
      <p:sp>
        <p:nvSpPr>
          <p:cNvPr id="3" name="Text 1"/>
          <p:cNvSpPr/>
          <p:nvPr/>
        </p:nvSpPr>
        <p:spPr>
          <a:xfrm>
            <a:off x="822960" y="1965960"/>
            <a:ext cx="7315200" cy="365760"/>
          </a:xfrm>
          <a:prstGeom prst="rect">
            <a:avLst/>
          </a:prstGeom>
          <a:noFill/>
          <a:ln/>
        </p:spPr>
        <p:txBody>
          <a:bodyPr wrap="square" rtlCol="0" anchor="ctr"/>
          <a:lstStyle/>
          <a:p>
            <a:pPr indent="0" marL="0">
              <a:buNone/>
            </a:pPr>
            <a:r>
              <a:rPr lang="en-US" sz="1400" b="1" spc="200" kern="0" dirty="0">
                <a:solidFill>
                  <a:srgbClr val="E8871E"/>
                </a:solidFill>
                <a:latin typeface="Calibri" pitchFamily="34" charset="0"/>
                <a:ea typeface="Calibri" pitchFamily="34" charset="-122"/>
                <a:cs typeface="Calibri" pitchFamily="34" charset="-120"/>
              </a:rPr>
              <a:t>MODULE 3 · SESSION 4 OF 4</a:t>
            </a:r>
            <a:endParaRPr lang="en-US" sz="1400" dirty="0"/>
          </a:p>
        </p:txBody>
      </p:sp>
      <p:sp>
        <p:nvSpPr>
          <p:cNvPr id="4" name="Text 2"/>
          <p:cNvSpPr/>
          <p:nvPr/>
        </p:nvSpPr>
        <p:spPr>
          <a:xfrm>
            <a:off x="822960" y="2331720"/>
            <a:ext cx="10058400" cy="10058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Principal Component Analysis: SVD in Action</a:t>
            </a:r>
            <a:endParaRPr lang="en-US" sz="3200" dirty="0"/>
          </a:p>
        </p:txBody>
      </p:sp>
      <p:sp>
        <p:nvSpPr>
          <p:cNvPr id="5" name="Text 3"/>
          <p:cNvSpPr/>
          <p:nvPr/>
        </p:nvSpPr>
        <p:spPr>
          <a:xfrm>
            <a:off x="822960" y="3246120"/>
            <a:ext cx="9144000" cy="548640"/>
          </a:xfrm>
          <a:prstGeom prst="rect">
            <a:avLst/>
          </a:prstGeom>
          <a:noFill/>
          <a:ln/>
        </p:spPr>
        <p:txBody>
          <a:bodyPr wrap="square" rtlCol="0" anchor="ctr"/>
          <a:lstStyle/>
          <a:p>
            <a:pPr indent="0" marL="0">
              <a:buNone/>
            </a:pPr>
            <a:r>
              <a:rPr lang="en-US" sz="1900" i="1" dirty="0">
                <a:solidFill>
                  <a:srgbClr val="CADCFC"/>
                </a:solidFill>
                <a:latin typeface="Calibri" pitchFamily="34" charset="0"/>
                <a:ea typeface="Calibri" pitchFamily="34" charset="-122"/>
                <a:cs typeface="Calibri" pitchFamily="34" charset="-120"/>
              </a:rPr>
              <a:t>The Most Common Use of Everything We've Built</a:t>
            </a:r>
            <a:endParaRPr lang="en-US" sz="1900" dirty="0"/>
          </a:p>
        </p:txBody>
      </p:sp>
      <p:sp>
        <p:nvSpPr>
          <p:cNvPr id="6" name="Text 4"/>
          <p:cNvSpPr/>
          <p:nvPr/>
        </p:nvSpPr>
        <p:spPr>
          <a:xfrm>
            <a:off x="822960" y="5989320"/>
            <a:ext cx="82296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Mathematical Foundations for Data Science &amp; Computational Intelligence</a:t>
            </a:r>
            <a:endParaRPr lang="en-US" sz="1200" dirty="0"/>
          </a:p>
        </p:txBody>
      </p:sp>
      <p:sp>
        <p:nvSpPr>
          <p:cNvPr id="7" name="Text 5"/>
          <p:cNvSpPr/>
          <p:nvPr/>
        </p:nvSpPr>
        <p:spPr>
          <a:xfrm>
            <a:off x="822960" y="6309360"/>
            <a:ext cx="8229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Mohsin Raza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90 MINUTES</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Today's Session</a:t>
            </a:r>
            <a:endParaRPr lang="en-US" sz="2900" dirty="0"/>
          </a:p>
        </p:txBody>
      </p:sp>
      <p:sp>
        <p:nvSpPr>
          <p:cNvPr id="4" name="Shape 2"/>
          <p:cNvSpPr/>
          <p:nvPr/>
        </p:nvSpPr>
        <p:spPr>
          <a:xfrm>
            <a:off x="640080" y="1600200"/>
            <a:ext cx="502920" cy="502920"/>
          </a:xfrm>
          <a:prstGeom prst="ellipse">
            <a:avLst/>
          </a:prstGeom>
          <a:solidFill>
            <a:srgbClr val="1E2761"/>
          </a:solidFill>
          <a:ln/>
        </p:spPr>
      </p:sp>
      <p:sp>
        <p:nvSpPr>
          <p:cNvPr id="5" name="Text 3"/>
          <p:cNvSpPr/>
          <p:nvPr/>
        </p:nvSpPr>
        <p:spPr>
          <a:xfrm>
            <a:off x="640080" y="160020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71600" y="1618488"/>
            <a:ext cx="7498080" cy="457200"/>
          </a:xfrm>
          <a:prstGeom prst="rect">
            <a:avLst/>
          </a:prstGeom>
          <a:noFill/>
          <a:ln/>
        </p:spPr>
        <p:txBody>
          <a:bodyPr wrap="square" rtlCol="0" anchor="ctr"/>
          <a:lstStyle/>
          <a:p>
            <a:pPr indent="0" marL="0">
              <a:buNone/>
            </a:pPr>
            <a:r>
              <a:rPr lang="en-US" sz="1800" dirty="0">
                <a:solidFill>
                  <a:srgbClr val="4A4F5A"/>
                </a:solidFill>
                <a:latin typeface="Calibri" pitchFamily="34" charset="0"/>
                <a:ea typeface="Calibri" pitchFamily="34" charset="-122"/>
                <a:cs typeface="Calibri" pitchFamily="34" charset="-120"/>
              </a:rPr>
              <a:t>Reconnect</a:t>
            </a:r>
            <a:endParaRPr lang="en-US" sz="1800" dirty="0"/>
          </a:p>
        </p:txBody>
      </p:sp>
      <p:sp>
        <p:nvSpPr>
          <p:cNvPr id="7" name="Text 5"/>
          <p:cNvSpPr/>
          <p:nvPr/>
        </p:nvSpPr>
        <p:spPr>
          <a:xfrm>
            <a:off x="9692640" y="1618488"/>
            <a:ext cx="1645920" cy="457200"/>
          </a:xfrm>
          <a:prstGeom prst="rect">
            <a:avLst/>
          </a:prstGeom>
          <a:noFill/>
          <a:ln/>
        </p:spPr>
        <p:txBody>
          <a:bodyPr wrap="square" rtlCol="0" anchor="ctr"/>
          <a:lstStyle/>
          <a:p>
            <a:pPr algn="r" indent="0" marL="0">
              <a:buNone/>
            </a:pPr>
            <a:r>
              <a:rPr lang="en-US" sz="1400" b="1" dirty="0">
                <a:solidFill>
                  <a:srgbClr val="E8871E"/>
                </a:solidFill>
                <a:latin typeface="Calibri" pitchFamily="34" charset="0"/>
                <a:ea typeface="Calibri" pitchFamily="34" charset="-122"/>
                <a:cs typeface="Calibri" pitchFamily="34" charset="-120"/>
              </a:rPr>
              <a:t>5 min</a:t>
            </a:r>
            <a:endParaRPr lang="en-US" sz="1400" dirty="0"/>
          </a:p>
        </p:txBody>
      </p:sp>
      <p:sp>
        <p:nvSpPr>
          <p:cNvPr id="8" name="Shape 6"/>
          <p:cNvSpPr/>
          <p:nvPr/>
        </p:nvSpPr>
        <p:spPr>
          <a:xfrm>
            <a:off x="640080" y="2441448"/>
            <a:ext cx="502920" cy="502920"/>
          </a:xfrm>
          <a:prstGeom prst="ellipse">
            <a:avLst/>
          </a:prstGeom>
          <a:solidFill>
            <a:srgbClr val="1E2761"/>
          </a:solidFill>
          <a:ln/>
        </p:spPr>
      </p:sp>
      <p:sp>
        <p:nvSpPr>
          <p:cNvPr id="9" name="Text 7"/>
          <p:cNvSpPr/>
          <p:nvPr/>
        </p:nvSpPr>
        <p:spPr>
          <a:xfrm>
            <a:off x="640080" y="2441448"/>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371600" y="2459736"/>
            <a:ext cx="7498080" cy="457200"/>
          </a:xfrm>
          <a:prstGeom prst="rect">
            <a:avLst/>
          </a:prstGeom>
          <a:noFill/>
          <a:ln/>
        </p:spPr>
        <p:txBody>
          <a:bodyPr wrap="square" rtlCol="0" anchor="ctr"/>
          <a:lstStyle/>
          <a:p>
            <a:pPr indent="0" marL="0">
              <a:buNone/>
            </a:pPr>
            <a:r>
              <a:rPr lang="en-US" sz="1800" dirty="0">
                <a:solidFill>
                  <a:srgbClr val="4A4F5A"/>
                </a:solidFill>
                <a:latin typeface="Calibri" pitchFamily="34" charset="0"/>
                <a:ea typeface="Calibri" pitchFamily="34" charset="-122"/>
                <a:cs typeface="Calibri" pitchFamily="34" charset="-120"/>
              </a:rPr>
              <a:t>Why Do We Need This?</a:t>
            </a:r>
            <a:endParaRPr lang="en-US" sz="1800" dirty="0"/>
          </a:p>
        </p:txBody>
      </p:sp>
      <p:sp>
        <p:nvSpPr>
          <p:cNvPr id="11" name="Text 9"/>
          <p:cNvSpPr/>
          <p:nvPr/>
        </p:nvSpPr>
        <p:spPr>
          <a:xfrm>
            <a:off x="9692640" y="2459736"/>
            <a:ext cx="1645920" cy="457200"/>
          </a:xfrm>
          <a:prstGeom prst="rect">
            <a:avLst/>
          </a:prstGeom>
          <a:noFill/>
          <a:ln/>
        </p:spPr>
        <p:txBody>
          <a:bodyPr wrap="square" rtlCol="0" anchor="ctr"/>
          <a:lstStyle/>
          <a:p>
            <a:pPr algn="r" indent="0" marL="0">
              <a:buNone/>
            </a:pPr>
            <a:r>
              <a:rPr lang="en-US" sz="1400" b="1" dirty="0">
                <a:solidFill>
                  <a:srgbClr val="E8871E"/>
                </a:solidFill>
                <a:latin typeface="Calibri" pitchFamily="34" charset="0"/>
                <a:ea typeface="Calibri" pitchFamily="34" charset="-122"/>
                <a:cs typeface="Calibri" pitchFamily="34" charset="-120"/>
              </a:rPr>
              <a:t>20 min</a:t>
            </a:r>
            <a:endParaRPr lang="en-US" sz="1400" dirty="0"/>
          </a:p>
        </p:txBody>
      </p:sp>
      <p:sp>
        <p:nvSpPr>
          <p:cNvPr id="12" name="Shape 10"/>
          <p:cNvSpPr/>
          <p:nvPr/>
        </p:nvSpPr>
        <p:spPr>
          <a:xfrm>
            <a:off x="640080" y="3282696"/>
            <a:ext cx="502920" cy="502920"/>
          </a:xfrm>
          <a:prstGeom prst="ellipse">
            <a:avLst/>
          </a:prstGeom>
          <a:solidFill>
            <a:srgbClr val="1E2761"/>
          </a:solidFill>
          <a:ln/>
        </p:spPr>
      </p:sp>
      <p:sp>
        <p:nvSpPr>
          <p:cNvPr id="13" name="Text 11"/>
          <p:cNvSpPr/>
          <p:nvPr/>
        </p:nvSpPr>
        <p:spPr>
          <a:xfrm>
            <a:off x="640080" y="3282696"/>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371600" y="3300984"/>
            <a:ext cx="7498080" cy="457200"/>
          </a:xfrm>
          <a:prstGeom prst="rect">
            <a:avLst/>
          </a:prstGeom>
          <a:noFill/>
          <a:ln/>
        </p:spPr>
        <p:txBody>
          <a:bodyPr wrap="square" rtlCol="0" anchor="ctr"/>
          <a:lstStyle/>
          <a:p>
            <a:pPr indent="0" marL="0">
              <a:buNone/>
            </a:pPr>
            <a:r>
              <a:rPr lang="en-US" sz="1800" dirty="0">
                <a:solidFill>
                  <a:srgbClr val="4A4F5A"/>
                </a:solidFill>
                <a:latin typeface="Calibri" pitchFamily="34" charset="0"/>
                <a:ea typeface="Calibri" pitchFamily="34" charset="-122"/>
                <a:cs typeface="Calibri" pitchFamily="34" charset="-120"/>
              </a:rPr>
              <a:t>PCA via SVD</a:t>
            </a:r>
            <a:endParaRPr lang="en-US" sz="1800" dirty="0"/>
          </a:p>
        </p:txBody>
      </p:sp>
      <p:sp>
        <p:nvSpPr>
          <p:cNvPr id="15" name="Text 13"/>
          <p:cNvSpPr/>
          <p:nvPr/>
        </p:nvSpPr>
        <p:spPr>
          <a:xfrm>
            <a:off x="9692640" y="3300984"/>
            <a:ext cx="1645920" cy="457200"/>
          </a:xfrm>
          <a:prstGeom prst="rect">
            <a:avLst/>
          </a:prstGeom>
          <a:noFill/>
          <a:ln/>
        </p:spPr>
        <p:txBody>
          <a:bodyPr wrap="square" rtlCol="0" anchor="ctr"/>
          <a:lstStyle/>
          <a:p>
            <a:pPr algn="r" indent="0" marL="0">
              <a:buNone/>
            </a:pPr>
            <a:r>
              <a:rPr lang="en-US" sz="1400" b="1" dirty="0">
                <a:solidFill>
                  <a:srgbClr val="E8871E"/>
                </a:solidFill>
                <a:latin typeface="Calibri" pitchFamily="34" charset="0"/>
                <a:ea typeface="Calibri" pitchFamily="34" charset="-122"/>
                <a:cs typeface="Calibri" pitchFamily="34" charset="-120"/>
              </a:rPr>
              <a:t>25 min</a:t>
            </a:r>
            <a:endParaRPr lang="en-US" sz="1400" dirty="0"/>
          </a:p>
        </p:txBody>
      </p:sp>
      <p:sp>
        <p:nvSpPr>
          <p:cNvPr id="16" name="Shape 14"/>
          <p:cNvSpPr/>
          <p:nvPr/>
        </p:nvSpPr>
        <p:spPr>
          <a:xfrm>
            <a:off x="640080" y="4123944"/>
            <a:ext cx="502920" cy="502920"/>
          </a:xfrm>
          <a:prstGeom prst="ellipse">
            <a:avLst/>
          </a:prstGeom>
          <a:solidFill>
            <a:srgbClr val="1E2761"/>
          </a:solidFill>
          <a:ln/>
        </p:spPr>
      </p:sp>
      <p:sp>
        <p:nvSpPr>
          <p:cNvPr id="17" name="Text 15"/>
          <p:cNvSpPr/>
          <p:nvPr/>
        </p:nvSpPr>
        <p:spPr>
          <a:xfrm>
            <a:off x="640080" y="4123944"/>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371600" y="4142232"/>
            <a:ext cx="7498080" cy="457200"/>
          </a:xfrm>
          <a:prstGeom prst="rect">
            <a:avLst/>
          </a:prstGeom>
          <a:noFill/>
          <a:ln/>
        </p:spPr>
        <p:txBody>
          <a:bodyPr wrap="square" rtlCol="0" anchor="ctr"/>
          <a:lstStyle/>
          <a:p>
            <a:pPr indent="0" marL="0">
              <a:buNone/>
            </a:pPr>
            <a:r>
              <a:rPr lang="en-US" sz="1800" dirty="0">
                <a:solidFill>
                  <a:srgbClr val="4A4F5A"/>
                </a:solidFill>
                <a:latin typeface="Calibri" pitchFamily="34" charset="0"/>
                <a:ea typeface="Calibri" pitchFamily="34" charset="-122"/>
                <a:cs typeface="Calibri" pitchFamily="34" charset="-120"/>
              </a:rPr>
              <a:t>Demo: The Iris Dataset</a:t>
            </a:r>
            <a:endParaRPr lang="en-US" sz="1800" dirty="0"/>
          </a:p>
        </p:txBody>
      </p:sp>
      <p:sp>
        <p:nvSpPr>
          <p:cNvPr id="19" name="Text 17"/>
          <p:cNvSpPr/>
          <p:nvPr/>
        </p:nvSpPr>
        <p:spPr>
          <a:xfrm>
            <a:off x="9692640" y="4142232"/>
            <a:ext cx="1645920" cy="457200"/>
          </a:xfrm>
          <a:prstGeom prst="rect">
            <a:avLst/>
          </a:prstGeom>
          <a:noFill/>
          <a:ln/>
        </p:spPr>
        <p:txBody>
          <a:bodyPr wrap="square" rtlCol="0" anchor="ctr"/>
          <a:lstStyle/>
          <a:p>
            <a:pPr algn="r" indent="0" marL="0">
              <a:buNone/>
            </a:pPr>
            <a:r>
              <a:rPr lang="en-US" sz="1400" b="1" dirty="0">
                <a:solidFill>
                  <a:srgbClr val="E8871E"/>
                </a:solidFill>
                <a:latin typeface="Calibri" pitchFamily="34" charset="0"/>
                <a:ea typeface="Calibri" pitchFamily="34" charset="-122"/>
                <a:cs typeface="Calibri" pitchFamily="34" charset="-120"/>
              </a:rPr>
              <a:t>25 min</a:t>
            </a:r>
            <a:endParaRPr lang="en-US" sz="1400" dirty="0"/>
          </a:p>
        </p:txBody>
      </p:sp>
      <p:sp>
        <p:nvSpPr>
          <p:cNvPr id="20" name="Shape 18"/>
          <p:cNvSpPr/>
          <p:nvPr/>
        </p:nvSpPr>
        <p:spPr>
          <a:xfrm>
            <a:off x="640080" y="4965192"/>
            <a:ext cx="502920" cy="502920"/>
          </a:xfrm>
          <a:prstGeom prst="ellipse">
            <a:avLst/>
          </a:prstGeom>
          <a:solidFill>
            <a:srgbClr val="1E2761"/>
          </a:solidFill>
          <a:ln/>
        </p:spPr>
      </p:sp>
      <p:sp>
        <p:nvSpPr>
          <p:cNvPr id="21" name="Text 19"/>
          <p:cNvSpPr/>
          <p:nvPr/>
        </p:nvSpPr>
        <p:spPr>
          <a:xfrm>
            <a:off x="640080" y="496519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1371600" y="4983480"/>
            <a:ext cx="7498080" cy="457200"/>
          </a:xfrm>
          <a:prstGeom prst="rect">
            <a:avLst/>
          </a:prstGeom>
          <a:noFill/>
          <a:ln/>
        </p:spPr>
        <p:txBody>
          <a:bodyPr wrap="square" rtlCol="0" anchor="ctr"/>
          <a:lstStyle/>
          <a:p>
            <a:pPr indent="0" marL="0">
              <a:buNone/>
            </a:pPr>
            <a:r>
              <a:rPr lang="en-US" sz="1800" dirty="0">
                <a:solidFill>
                  <a:srgbClr val="4A4F5A"/>
                </a:solidFill>
                <a:latin typeface="Calibri" pitchFamily="34" charset="0"/>
                <a:ea typeface="Calibri" pitchFamily="34" charset="-122"/>
                <a:cs typeface="Calibri" pitchFamily="34" charset="-120"/>
              </a:rPr>
              <a:t>Synthesis &amp; Bridge to Module 4</a:t>
            </a:r>
            <a:endParaRPr lang="en-US" sz="1800" dirty="0"/>
          </a:p>
        </p:txBody>
      </p:sp>
      <p:sp>
        <p:nvSpPr>
          <p:cNvPr id="23" name="Text 21"/>
          <p:cNvSpPr/>
          <p:nvPr/>
        </p:nvSpPr>
        <p:spPr>
          <a:xfrm>
            <a:off x="9692640" y="4983480"/>
            <a:ext cx="1645920" cy="457200"/>
          </a:xfrm>
          <a:prstGeom prst="rect">
            <a:avLst/>
          </a:prstGeom>
          <a:noFill/>
          <a:ln/>
        </p:spPr>
        <p:txBody>
          <a:bodyPr wrap="square" rtlCol="0" anchor="ctr"/>
          <a:lstStyle/>
          <a:p>
            <a:pPr algn="r" indent="0" marL="0">
              <a:buNone/>
            </a:pPr>
            <a:r>
              <a:rPr lang="en-US" sz="1400" b="1" dirty="0">
                <a:solidFill>
                  <a:srgbClr val="E8871E"/>
                </a:solidFill>
                <a:latin typeface="Calibri" pitchFamily="34" charset="0"/>
                <a:ea typeface="Calibri" pitchFamily="34" charset="-122"/>
                <a:cs typeface="Calibri" pitchFamily="34" charset="-120"/>
              </a:rPr>
              <a:t>15 min</a:t>
            </a:r>
            <a:endParaRPr lang="en-US" sz="1400" dirty="0"/>
          </a:p>
        </p:txBody>
      </p:sp>
      <p:sp>
        <p:nvSpPr>
          <p:cNvPr id="24" name="Text 22"/>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25" name="Text 23"/>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RECONNECT</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The Story So Far</a:t>
            </a:r>
            <a:endParaRPr lang="en-US" sz="2900" dirty="0"/>
          </a:p>
        </p:txBody>
      </p:sp>
      <p:sp>
        <p:nvSpPr>
          <p:cNvPr id="4" name="Shape 2"/>
          <p:cNvSpPr/>
          <p:nvPr/>
        </p:nvSpPr>
        <p:spPr>
          <a:xfrm>
            <a:off x="640080" y="2286000"/>
            <a:ext cx="3200400" cy="1828800"/>
          </a:xfrm>
          <a:prstGeom prst="roundRect">
            <a:avLst>
              <a:gd name="adj" fmla="val 6000"/>
            </a:avLst>
          </a:prstGeom>
          <a:solidFill>
            <a:srgbClr val="FFFFFF"/>
          </a:solidFill>
          <a:ln w="19050">
            <a:solidFill>
              <a:srgbClr val="8FA8E0"/>
            </a:solidFill>
            <a:prstDash val="solid"/>
          </a:ln>
        </p:spPr>
      </p:sp>
      <p:sp>
        <p:nvSpPr>
          <p:cNvPr id="5" name="Text 3"/>
          <p:cNvSpPr/>
          <p:nvPr/>
        </p:nvSpPr>
        <p:spPr>
          <a:xfrm>
            <a:off x="640080" y="2514600"/>
            <a:ext cx="3200400" cy="365760"/>
          </a:xfrm>
          <a:prstGeom prst="rect">
            <a:avLst/>
          </a:prstGeom>
          <a:noFill/>
          <a:ln/>
        </p:spPr>
        <p:txBody>
          <a:bodyPr wrap="square" rtlCol="0" anchor="ctr"/>
          <a:lstStyle/>
          <a:p>
            <a:pPr algn="ctr" indent="0" marL="0">
              <a:buNone/>
            </a:pPr>
            <a:r>
              <a:rPr lang="en-US" sz="1300" b="1" dirty="0">
                <a:solidFill>
                  <a:srgbClr val="E8871E"/>
                </a:solidFill>
                <a:latin typeface="Calibri" pitchFamily="34" charset="0"/>
                <a:ea typeface="Calibri" pitchFamily="34" charset="-122"/>
                <a:cs typeface="Calibri" pitchFamily="34" charset="-120"/>
              </a:rPr>
              <a:t>Sessions 1–2</a:t>
            </a:r>
            <a:endParaRPr lang="en-US" sz="1300" dirty="0"/>
          </a:p>
        </p:txBody>
      </p:sp>
      <p:sp>
        <p:nvSpPr>
          <p:cNvPr id="6" name="Text 4"/>
          <p:cNvSpPr/>
          <p:nvPr/>
        </p:nvSpPr>
        <p:spPr>
          <a:xfrm>
            <a:off x="822960" y="2971800"/>
            <a:ext cx="2834640" cy="1005840"/>
          </a:xfrm>
          <a:prstGeom prst="rect">
            <a:avLst/>
          </a:prstGeom>
          <a:noFill/>
          <a:ln/>
        </p:spPr>
        <p:txBody>
          <a:bodyPr wrap="square" rtlCol="0" anchor="t"/>
          <a:lstStyle/>
          <a:p>
            <a:pPr algn="ctr" indent="0" marL="0">
              <a:buNone/>
            </a:pPr>
            <a:r>
              <a:rPr lang="en-US" sz="1550" dirty="0">
                <a:solidFill>
                  <a:srgbClr val="1E2761"/>
                </a:solidFill>
                <a:latin typeface="Cambria" pitchFamily="34" charset="0"/>
                <a:ea typeface="Cambria" pitchFamily="34" charset="-122"/>
                <a:cs typeface="Cambria" pitchFamily="34" charset="-120"/>
              </a:rPr>
              <a:t>Special directions</a:t>
            </a:r>
            <a:endParaRPr lang="en-US" sz="1550" dirty="0"/>
          </a:p>
          <a:p>
            <a:pPr algn="ctr" indent="0" marL="0">
              <a:buNone/>
            </a:pPr>
            <a:r>
              <a:rPr lang="en-US" sz="1550" dirty="0">
                <a:solidFill>
                  <a:srgbClr val="1E2761"/>
                </a:solidFill>
                <a:latin typeface="Cambria" pitchFamily="34" charset="0"/>
                <a:ea typeface="Cambria" pitchFamily="34" charset="-122"/>
                <a:cs typeface="Cambria" pitchFamily="34" charset="-120"/>
              </a:rPr>
              <a:t>exist — SVD finds them</a:t>
            </a:r>
            <a:endParaRPr lang="en-US" sz="1550" dirty="0"/>
          </a:p>
          <a:p>
            <a:pPr algn="ctr" indent="0" marL="0">
              <a:buNone/>
            </a:pPr>
            <a:r>
              <a:rPr lang="en-US" sz="1550" dirty="0">
                <a:solidFill>
                  <a:srgbClr val="1E2761"/>
                </a:solidFill>
                <a:latin typeface="Cambria" pitchFamily="34" charset="0"/>
                <a:ea typeface="Cambria" pitchFamily="34" charset="-122"/>
                <a:cs typeface="Cambria" pitchFamily="34" charset="-120"/>
              </a:rPr>
              <a:t>for any matrix</a:t>
            </a:r>
            <a:endParaRPr lang="en-US" sz="1550" dirty="0"/>
          </a:p>
        </p:txBody>
      </p:sp>
      <p:sp>
        <p:nvSpPr>
          <p:cNvPr id="7" name="Text 5"/>
          <p:cNvSpPr/>
          <p:nvPr/>
        </p:nvSpPr>
        <p:spPr>
          <a:xfrm>
            <a:off x="3840480" y="2880360"/>
            <a:ext cx="457200" cy="640080"/>
          </a:xfrm>
          <a:prstGeom prst="rect">
            <a:avLst/>
          </a:prstGeom>
          <a:noFill/>
          <a:ln/>
        </p:spPr>
        <p:txBody>
          <a:bodyPr wrap="square" rtlCol="0" anchor="ctr"/>
          <a:lstStyle/>
          <a:p>
            <a:pPr algn="ctr" indent="0" marL="0">
              <a:buNone/>
            </a:pPr>
            <a:r>
              <a:rPr lang="en-US" sz="2800" b="1" dirty="0">
                <a:solidFill>
                  <a:srgbClr val="8FA8E0"/>
                </a:solidFill>
                <a:latin typeface="Cambria" pitchFamily="34" charset="0"/>
                <a:ea typeface="Cambria" pitchFamily="34" charset="-122"/>
                <a:cs typeface="Cambria" pitchFamily="34" charset="-120"/>
              </a:rPr>
              <a:t>→</a:t>
            </a:r>
            <a:endParaRPr lang="en-US" sz="2800" dirty="0"/>
          </a:p>
        </p:txBody>
      </p:sp>
      <p:sp>
        <p:nvSpPr>
          <p:cNvPr id="8" name="Shape 6"/>
          <p:cNvSpPr/>
          <p:nvPr/>
        </p:nvSpPr>
        <p:spPr>
          <a:xfrm>
            <a:off x="4297680" y="2286000"/>
            <a:ext cx="3200400" cy="1828800"/>
          </a:xfrm>
          <a:prstGeom prst="roundRect">
            <a:avLst>
              <a:gd name="adj" fmla="val 6000"/>
            </a:avLst>
          </a:prstGeom>
          <a:solidFill>
            <a:srgbClr val="1E2761"/>
          </a:solidFill>
          <a:ln w="19050">
            <a:solidFill>
              <a:srgbClr val="1E2761"/>
            </a:solidFill>
            <a:prstDash val="solid"/>
          </a:ln>
          <a:effectLst>
            <a:outerShdw sx="100000" sy="100000" kx="0" ky="0" algn="bl" rotWithShape="0" blurRad="101600" dist="38100" dir="5400000">
              <a:srgbClr val="1E2761">
                <a:alpha val="25000"/>
              </a:srgbClr>
            </a:outerShdw>
          </a:effectLst>
        </p:spPr>
      </p:sp>
      <p:sp>
        <p:nvSpPr>
          <p:cNvPr id="9" name="Text 7"/>
          <p:cNvSpPr/>
          <p:nvPr/>
        </p:nvSpPr>
        <p:spPr>
          <a:xfrm>
            <a:off x="4297680" y="2514600"/>
            <a:ext cx="3200400" cy="365760"/>
          </a:xfrm>
          <a:prstGeom prst="rect">
            <a:avLst/>
          </a:prstGeom>
          <a:noFill/>
          <a:ln/>
        </p:spPr>
        <p:txBody>
          <a:bodyPr wrap="square" rtlCol="0" anchor="ctr"/>
          <a:lstStyle/>
          <a:p>
            <a:pPr algn="ctr" indent="0" marL="0">
              <a:buNone/>
            </a:pPr>
            <a:r>
              <a:rPr lang="en-US" sz="1300" b="1" dirty="0">
                <a:solidFill>
                  <a:srgbClr val="E8871E"/>
                </a:solidFill>
                <a:latin typeface="Calibri" pitchFamily="34" charset="0"/>
                <a:ea typeface="Calibri" pitchFamily="34" charset="-122"/>
                <a:cs typeface="Calibri" pitchFamily="34" charset="-120"/>
              </a:rPr>
              <a:t>Session 3</a:t>
            </a:r>
            <a:endParaRPr lang="en-US" sz="1300" dirty="0"/>
          </a:p>
        </p:txBody>
      </p:sp>
      <p:sp>
        <p:nvSpPr>
          <p:cNvPr id="10" name="Text 8"/>
          <p:cNvSpPr/>
          <p:nvPr/>
        </p:nvSpPr>
        <p:spPr>
          <a:xfrm>
            <a:off x="4480560" y="2971800"/>
            <a:ext cx="2834640" cy="1005840"/>
          </a:xfrm>
          <a:prstGeom prst="rect">
            <a:avLst/>
          </a:prstGeom>
          <a:noFill/>
          <a:ln/>
        </p:spPr>
        <p:txBody>
          <a:bodyPr wrap="square" rtlCol="0" anchor="t"/>
          <a:lstStyle/>
          <a:p>
            <a:pPr algn="ctr" indent="0" marL="0">
              <a:buNone/>
            </a:pPr>
            <a:r>
              <a:rPr lang="en-US" sz="1550" dirty="0">
                <a:solidFill>
                  <a:srgbClr val="FFFFFF"/>
                </a:solidFill>
                <a:latin typeface="Cambria" pitchFamily="34" charset="0"/>
                <a:ea typeface="Cambria" pitchFamily="34" charset="-122"/>
                <a:cs typeface="Cambria" pitchFamily="34" charset="-120"/>
              </a:rPr>
              <a:t>SVD gives the best</a:t>
            </a:r>
            <a:endParaRPr lang="en-US" sz="1550" dirty="0"/>
          </a:p>
          <a:p>
            <a:pPr algn="ctr" indent="0" marL="0">
              <a:buNone/>
            </a:pPr>
            <a:r>
              <a:rPr lang="en-US" sz="1550" dirty="0">
                <a:solidFill>
                  <a:srgbClr val="FFFFFF"/>
                </a:solidFill>
                <a:latin typeface="Cambria" pitchFamily="34" charset="0"/>
                <a:ea typeface="Cambria" pitchFamily="34" charset="-122"/>
                <a:cs typeface="Cambria" pitchFamily="34" charset="-120"/>
              </a:rPr>
              <a:t>possible rank-k</a:t>
            </a:r>
            <a:endParaRPr lang="en-US" sz="1550" dirty="0"/>
          </a:p>
          <a:p>
            <a:pPr algn="ctr" indent="0" marL="0">
              <a:buNone/>
            </a:pPr>
            <a:r>
              <a:rPr lang="en-US" sz="1550" dirty="0">
                <a:solidFill>
                  <a:srgbClr val="FFFFFF"/>
                </a:solidFill>
                <a:latin typeface="Cambria" pitchFamily="34" charset="0"/>
                <a:ea typeface="Cambria" pitchFamily="34" charset="-122"/>
                <a:cs typeface="Cambria" pitchFamily="34" charset="-120"/>
              </a:rPr>
              <a:t>summary</a:t>
            </a:r>
            <a:endParaRPr lang="en-US" sz="1550" dirty="0"/>
          </a:p>
        </p:txBody>
      </p:sp>
      <p:sp>
        <p:nvSpPr>
          <p:cNvPr id="11" name="Text 9"/>
          <p:cNvSpPr/>
          <p:nvPr/>
        </p:nvSpPr>
        <p:spPr>
          <a:xfrm>
            <a:off x="7498080" y="2880360"/>
            <a:ext cx="457200" cy="640080"/>
          </a:xfrm>
          <a:prstGeom prst="rect">
            <a:avLst/>
          </a:prstGeom>
          <a:noFill/>
          <a:ln/>
        </p:spPr>
        <p:txBody>
          <a:bodyPr wrap="square" rtlCol="0" anchor="ctr"/>
          <a:lstStyle/>
          <a:p>
            <a:pPr algn="ctr" indent="0" marL="0">
              <a:buNone/>
            </a:pPr>
            <a:r>
              <a:rPr lang="en-US" sz="2800" b="1" dirty="0">
                <a:solidFill>
                  <a:srgbClr val="8FA8E0"/>
                </a:solidFill>
                <a:latin typeface="Cambria" pitchFamily="34" charset="0"/>
                <a:ea typeface="Cambria" pitchFamily="34" charset="-122"/>
                <a:cs typeface="Cambria" pitchFamily="34" charset="-120"/>
              </a:rPr>
              <a:t>→</a:t>
            </a:r>
            <a:endParaRPr lang="en-US" sz="2800" dirty="0"/>
          </a:p>
        </p:txBody>
      </p:sp>
      <p:sp>
        <p:nvSpPr>
          <p:cNvPr id="12" name="Shape 10"/>
          <p:cNvSpPr/>
          <p:nvPr/>
        </p:nvSpPr>
        <p:spPr>
          <a:xfrm>
            <a:off x="7955280" y="2286000"/>
            <a:ext cx="3200400" cy="1828800"/>
          </a:xfrm>
          <a:prstGeom prst="roundRect">
            <a:avLst>
              <a:gd name="adj" fmla="val 6000"/>
            </a:avLst>
          </a:prstGeom>
          <a:solidFill>
            <a:srgbClr val="FFFFFF"/>
          </a:solidFill>
          <a:ln w="19050">
            <a:solidFill>
              <a:srgbClr val="8FA8E0"/>
            </a:solidFill>
            <a:prstDash val="solid"/>
          </a:ln>
        </p:spPr>
      </p:sp>
      <p:sp>
        <p:nvSpPr>
          <p:cNvPr id="13" name="Text 11"/>
          <p:cNvSpPr/>
          <p:nvPr/>
        </p:nvSpPr>
        <p:spPr>
          <a:xfrm>
            <a:off x="7955280" y="2514600"/>
            <a:ext cx="3200400" cy="365760"/>
          </a:xfrm>
          <a:prstGeom prst="rect">
            <a:avLst/>
          </a:prstGeom>
          <a:noFill/>
          <a:ln/>
        </p:spPr>
        <p:txBody>
          <a:bodyPr wrap="square" rtlCol="0" anchor="ctr"/>
          <a:lstStyle/>
          <a:p>
            <a:pPr algn="ctr" indent="0" marL="0">
              <a:buNone/>
            </a:pPr>
            <a:r>
              <a:rPr lang="en-US" sz="1300" b="1" dirty="0">
                <a:solidFill>
                  <a:srgbClr val="E8871E"/>
                </a:solidFill>
                <a:latin typeface="Calibri" pitchFamily="34" charset="0"/>
                <a:ea typeface="Calibri" pitchFamily="34" charset="-122"/>
                <a:cs typeface="Calibri" pitchFamily="34" charset="-120"/>
              </a:rPr>
              <a:t>Today</a:t>
            </a:r>
            <a:endParaRPr lang="en-US" sz="1300" dirty="0"/>
          </a:p>
        </p:txBody>
      </p:sp>
      <p:sp>
        <p:nvSpPr>
          <p:cNvPr id="14" name="Text 12"/>
          <p:cNvSpPr/>
          <p:nvPr/>
        </p:nvSpPr>
        <p:spPr>
          <a:xfrm>
            <a:off x="8138160" y="2971800"/>
            <a:ext cx="2834640" cy="1005840"/>
          </a:xfrm>
          <a:prstGeom prst="rect">
            <a:avLst/>
          </a:prstGeom>
          <a:noFill/>
          <a:ln/>
        </p:spPr>
        <p:txBody>
          <a:bodyPr wrap="square" rtlCol="0" anchor="t"/>
          <a:lstStyle/>
          <a:p>
            <a:pPr algn="ctr" indent="0" marL="0">
              <a:buNone/>
            </a:pPr>
            <a:r>
              <a:rPr lang="en-US" sz="1550" dirty="0">
                <a:solidFill>
                  <a:srgbClr val="1E2761"/>
                </a:solidFill>
                <a:latin typeface="Cambria" pitchFamily="34" charset="0"/>
                <a:ea typeface="Cambria" pitchFamily="34" charset="-122"/>
                <a:cs typeface="Cambria" pitchFamily="34" charset="-120"/>
              </a:rPr>
              <a:t>The single most</a:t>
            </a:r>
            <a:endParaRPr lang="en-US" sz="1550" dirty="0"/>
          </a:p>
          <a:p>
            <a:pPr algn="ctr" indent="0" marL="0">
              <a:buNone/>
            </a:pPr>
            <a:r>
              <a:rPr lang="en-US" sz="1550" dirty="0">
                <a:solidFill>
                  <a:srgbClr val="1E2761"/>
                </a:solidFill>
                <a:latin typeface="Cambria" pitchFamily="34" charset="0"/>
                <a:ea typeface="Cambria" pitchFamily="34" charset="-122"/>
                <a:cs typeface="Cambria" pitchFamily="34" charset="-120"/>
              </a:rPr>
              <a:t>common real-world</a:t>
            </a:r>
            <a:endParaRPr lang="en-US" sz="1550" dirty="0"/>
          </a:p>
          <a:p>
            <a:pPr algn="ctr" indent="0" marL="0">
              <a:buNone/>
            </a:pPr>
            <a:r>
              <a:rPr lang="en-US" sz="1550" dirty="0">
                <a:solidFill>
                  <a:srgbClr val="1E2761"/>
                </a:solidFill>
                <a:latin typeface="Cambria" pitchFamily="34" charset="0"/>
                <a:ea typeface="Cambria" pitchFamily="34" charset="-122"/>
                <a:cs typeface="Cambria" pitchFamily="34" charset="-120"/>
              </a:rPr>
              <a:t>use of this idea</a:t>
            </a:r>
            <a:endParaRPr lang="en-US" sz="1550" dirty="0"/>
          </a:p>
        </p:txBody>
      </p:sp>
      <p:sp>
        <p:nvSpPr>
          <p:cNvPr id="15" name="Text 13"/>
          <p:cNvSpPr/>
          <p:nvPr/>
        </p:nvSpPr>
        <p:spPr>
          <a:xfrm>
            <a:off x="640080" y="4617720"/>
            <a:ext cx="10607040" cy="914400"/>
          </a:xfrm>
          <a:prstGeom prst="rect">
            <a:avLst/>
          </a:prstGeom>
          <a:noFill/>
          <a:ln/>
        </p:spPr>
        <p:txBody>
          <a:bodyPr wrap="square" rtlCol="0" anchor="ctr"/>
          <a:lstStyle/>
          <a:p>
            <a:pPr algn="ctr" indent="0" marL="0">
              <a:buNone/>
            </a:pPr>
            <a:r>
              <a:rPr lang="en-US" sz="1600" i="1" dirty="0">
                <a:solidFill>
                  <a:srgbClr val="4A4F5A"/>
                </a:solidFill>
                <a:latin typeface="Calibri" pitchFamily="34" charset="0"/>
                <a:ea typeface="Calibri" pitchFamily="34" charset="-122"/>
                <a:cs typeface="Calibri" pitchFamily="34" charset="-120"/>
              </a:rPr>
              <a:t>Every session this module has built toward one destination. Today we arrive.</a:t>
            </a:r>
            <a:endParaRPr lang="en-US" sz="1600" dirty="0"/>
          </a:p>
        </p:txBody>
      </p:sp>
      <p:sp>
        <p:nvSpPr>
          <p:cNvPr id="16" name="Text 14"/>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17" name="Text 15"/>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GUIDED QUESTION</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50 Numbers Per Customer. Now What?</a:t>
            </a:r>
            <a:endParaRPr lang="en-US" sz="2900" dirty="0"/>
          </a:p>
        </p:txBody>
      </p:sp>
      <p:pic>
        <p:nvPicPr>
          <p:cNvPr id="4" name="Image 0" descr="assets/slide4_columns_question.png">    </p:cNvPr>
          <p:cNvPicPr>
            <a:picLocks noChangeAspect="1"/>
          </p:cNvPicPr>
          <p:nvPr/>
        </p:nvPicPr>
        <p:blipFill>
          <a:blip r:embed="rId1"/>
          <a:stretch>
            <a:fillRect/>
          </a:stretch>
        </p:blipFill>
        <p:spPr>
          <a:xfrm>
            <a:off x="548640" y="1554480"/>
            <a:ext cx="11064240" cy="3200400"/>
          </a:xfrm>
          <a:prstGeom prst="rect">
            <a:avLst/>
          </a:prstGeom>
        </p:spPr>
      </p:pic>
      <p:sp>
        <p:nvSpPr>
          <p:cNvPr id="5" name="Text 2"/>
          <p:cNvSpPr/>
          <p:nvPr/>
        </p:nvSpPr>
        <p:spPr>
          <a:xfrm>
            <a:off x="640080" y="4937760"/>
            <a:ext cx="10607040" cy="1097280"/>
          </a:xfrm>
          <a:prstGeom prst="rect">
            <a:avLst/>
          </a:prstGeom>
          <a:noFill/>
          <a:ln/>
        </p:spPr>
        <p:txBody>
          <a:bodyPr wrap="square" rtlCol="0" anchor="t"/>
          <a:lstStyle/>
          <a:p>
            <a:pPr algn="ctr" indent="0" marL="0">
              <a:buNone/>
            </a:pPr>
            <a:r>
              <a:rPr lang="en-US" sz="1600" dirty="0">
                <a:solidFill>
                  <a:srgbClr val="4A4F5A"/>
                </a:solidFill>
                <a:latin typeface="Calibri" pitchFamily="34" charset="0"/>
                <a:ea typeface="Calibri" pitchFamily="34" charset="-122"/>
                <a:cs typeface="Calibri" pitchFamily="34" charset="-120"/>
              </a:rPr>
              <a:t>You have 50 measurements per customer — spending across 50 categories. You want to plot your customers on a simple 2D chart to see patterns. You obviously can't plot 50 dimensions. What do you do?</a:t>
            </a:r>
            <a:endParaRPr lang="en-US" sz="1600" dirty="0"/>
          </a:p>
        </p:txBody>
      </p:sp>
      <p:sp>
        <p:nvSpPr>
          <p:cNvPr id="6" name="Text 3"/>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GUIDED QUESTION, CONTINUED</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Which Directions Have the Most Spread?</a:t>
            </a:r>
            <a:endParaRPr lang="en-US" sz="2900" dirty="0"/>
          </a:p>
        </p:txBody>
      </p:sp>
      <p:pic>
        <p:nvPicPr>
          <p:cNvPr id="4" name="Image 0" descr="assets/slide5_variance_direction.png">    </p:cNvPr>
          <p:cNvPicPr>
            <a:picLocks noChangeAspect="1"/>
          </p:cNvPicPr>
          <p:nvPr/>
        </p:nvPicPr>
        <p:blipFill>
          <a:blip r:embed="rId1"/>
          <a:stretch>
            <a:fillRect/>
          </a:stretch>
        </p:blipFill>
        <p:spPr>
          <a:xfrm>
            <a:off x="1463040" y="1508760"/>
            <a:ext cx="9235440" cy="3611880"/>
          </a:xfrm>
          <a:prstGeom prst="rect">
            <a:avLst/>
          </a:prstGeom>
        </p:spPr>
      </p:pic>
      <p:sp>
        <p:nvSpPr>
          <p:cNvPr id="5" name="Text 2"/>
          <p:cNvSpPr/>
          <p:nvPr/>
        </p:nvSpPr>
        <p:spPr>
          <a:xfrm>
            <a:off x="640080" y="5257800"/>
            <a:ext cx="10607040" cy="822960"/>
          </a:xfrm>
          <a:prstGeom prst="rect">
            <a:avLst/>
          </a:prstGeom>
          <a:noFill/>
          <a:ln/>
        </p:spPr>
        <p:txBody>
          <a:bodyPr wrap="square" rtlCol="0" anchor="ctr"/>
          <a:lstStyle/>
          <a:p>
            <a:pPr algn="ctr" indent="0" marL="0">
              <a:buNone/>
            </a:pPr>
            <a:r>
              <a:rPr lang="en-US" sz="1600" dirty="0">
                <a:solidFill>
                  <a:srgbClr val="4A4F5A"/>
                </a:solidFill>
                <a:latin typeface="Calibri" pitchFamily="34" charset="0"/>
                <a:ea typeface="Calibri" pitchFamily="34" charset="-122"/>
                <a:cs typeface="Calibri" pitchFamily="34" charset="-120"/>
              </a:rPr>
              <a:t>The direction of maximum variance is an eigenvector of the covariance matrix — the one with the largest eigenvalue. That's the first principal component.</a:t>
            </a:r>
            <a:endParaRPr lang="en-US" sz="1600" dirty="0"/>
          </a:p>
        </p:txBody>
      </p:sp>
      <p:sp>
        <p:nvSpPr>
          <p:cNvPr id="6" name="Text 3"/>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10332720" y="5120640"/>
            <a:ext cx="2743200" cy="2743200"/>
          </a:xfrm>
          <a:prstGeom prst="rect">
            <a:avLst/>
          </a:prstGeom>
          <a:noFill/>
          <a:ln/>
        </p:spPr>
        <p:txBody>
          <a:bodyPr wrap="square" rtlCol="0" anchor="ctr"/>
          <a:lstStyle/>
          <a:p>
            <a:pPr algn="ctr" indent="0" marL="0">
              <a:buNone/>
            </a:pPr>
            <a:r>
              <a:rPr lang="en-US" sz="9000" b="1" dirty="0">
                <a:solidFill>
                  <a:srgbClr val="FFFFFF">
                    <a:alpha val="15000"/>
                  </a:srgbClr>
                </a:solidFill>
                <a:latin typeface="Cambria" pitchFamily="34" charset="0"/>
                <a:ea typeface="Cambria" pitchFamily="34" charset="-122"/>
                <a:cs typeface="Cambria" pitchFamily="34" charset="-120"/>
              </a:rPr>
              <a:t>Σ</a:t>
            </a:r>
            <a:endParaRPr lang="en-US" sz="9000" dirty="0"/>
          </a:p>
        </p:txBody>
      </p:sp>
      <p:sp>
        <p:nvSpPr>
          <p:cNvPr id="3" name="Text 1"/>
          <p:cNvSpPr/>
          <p:nvPr/>
        </p:nvSpPr>
        <p:spPr>
          <a:xfrm>
            <a:off x="548640" y="411480"/>
            <a:ext cx="10881360" cy="822960"/>
          </a:xfrm>
          <a:prstGeom prst="rect">
            <a:avLst/>
          </a:prstGeom>
          <a:noFill/>
          <a:ln/>
        </p:spPr>
        <p:txBody>
          <a:bodyPr wrap="square"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PCA via SVD</a:t>
            </a:r>
            <a:endParaRPr lang="en-US" sz="2900" dirty="0"/>
          </a:p>
        </p:txBody>
      </p:sp>
      <p:sp>
        <p:nvSpPr>
          <p:cNvPr id="4" name="Shape 2"/>
          <p:cNvSpPr/>
          <p:nvPr/>
        </p:nvSpPr>
        <p:spPr>
          <a:xfrm>
            <a:off x="1126084" y="2011680"/>
            <a:ext cx="1783080" cy="914400"/>
          </a:xfrm>
          <a:prstGeom prst="roundRect">
            <a:avLst>
              <a:gd name="adj" fmla="val 8000"/>
            </a:avLst>
          </a:prstGeom>
          <a:solidFill>
            <a:srgbClr val="26306E"/>
          </a:solidFill>
          <a:ln w="15875">
            <a:solidFill>
              <a:srgbClr val="8FA8E0"/>
            </a:solidFill>
            <a:prstDash val="solid"/>
          </a:ln>
        </p:spPr>
      </p:sp>
      <p:sp>
        <p:nvSpPr>
          <p:cNvPr id="5" name="Text 3"/>
          <p:cNvSpPr/>
          <p:nvPr/>
        </p:nvSpPr>
        <p:spPr>
          <a:xfrm>
            <a:off x="1126084" y="2011680"/>
            <a:ext cx="1783080" cy="9144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Center</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the data</a:t>
            </a:r>
            <a:endParaRPr lang="en-US" sz="1400" dirty="0"/>
          </a:p>
        </p:txBody>
      </p:sp>
      <p:sp>
        <p:nvSpPr>
          <p:cNvPr id="6" name="Text 4"/>
          <p:cNvSpPr/>
          <p:nvPr/>
        </p:nvSpPr>
        <p:spPr>
          <a:xfrm>
            <a:off x="2909164" y="2011680"/>
            <a:ext cx="256032" cy="914400"/>
          </a:xfrm>
          <a:prstGeom prst="rect">
            <a:avLst/>
          </a:prstGeom>
          <a:noFill/>
          <a:ln/>
        </p:spPr>
        <p:txBody>
          <a:bodyPr wrap="square" rtlCol="0" anchor="ctr"/>
          <a:lstStyle/>
          <a:p>
            <a:pPr algn="ctr" indent="0" marL="0">
              <a:buNone/>
            </a:pPr>
            <a:r>
              <a:rPr lang="en-US" sz="1800" b="1" dirty="0">
                <a:solidFill>
                  <a:srgbClr val="8FA8E0"/>
                </a:solidFill>
                <a:latin typeface="Cambria" pitchFamily="34" charset="0"/>
                <a:ea typeface="Cambria" pitchFamily="34" charset="-122"/>
                <a:cs typeface="Cambria" pitchFamily="34" charset="-120"/>
              </a:rPr>
              <a:t>→</a:t>
            </a:r>
            <a:endParaRPr lang="en-US" sz="1800" dirty="0"/>
          </a:p>
        </p:txBody>
      </p:sp>
      <p:sp>
        <p:nvSpPr>
          <p:cNvPr id="7" name="Shape 5"/>
          <p:cNvSpPr/>
          <p:nvPr/>
        </p:nvSpPr>
        <p:spPr>
          <a:xfrm>
            <a:off x="3165196" y="2011680"/>
            <a:ext cx="1783080" cy="914400"/>
          </a:xfrm>
          <a:prstGeom prst="roundRect">
            <a:avLst>
              <a:gd name="adj" fmla="val 8000"/>
            </a:avLst>
          </a:prstGeom>
          <a:solidFill>
            <a:srgbClr val="26306E"/>
          </a:solidFill>
          <a:ln w="15875">
            <a:solidFill>
              <a:srgbClr val="8FA8E0"/>
            </a:solidFill>
            <a:prstDash val="solid"/>
          </a:ln>
        </p:spPr>
      </p:sp>
      <p:sp>
        <p:nvSpPr>
          <p:cNvPr id="8" name="Text 6"/>
          <p:cNvSpPr/>
          <p:nvPr/>
        </p:nvSpPr>
        <p:spPr>
          <a:xfrm>
            <a:off x="3165196" y="2011680"/>
            <a:ext cx="1783080" cy="9144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X_centered</a:t>
            </a:r>
            <a:endParaRPr lang="en-US" sz="1400" dirty="0"/>
          </a:p>
        </p:txBody>
      </p:sp>
      <p:sp>
        <p:nvSpPr>
          <p:cNvPr id="9" name="Text 7"/>
          <p:cNvSpPr/>
          <p:nvPr/>
        </p:nvSpPr>
        <p:spPr>
          <a:xfrm>
            <a:off x="4948276" y="2011680"/>
            <a:ext cx="256032" cy="914400"/>
          </a:xfrm>
          <a:prstGeom prst="rect">
            <a:avLst/>
          </a:prstGeom>
          <a:noFill/>
          <a:ln/>
        </p:spPr>
        <p:txBody>
          <a:bodyPr wrap="square" rtlCol="0" anchor="ctr"/>
          <a:lstStyle/>
          <a:p>
            <a:pPr algn="ctr" indent="0" marL="0">
              <a:buNone/>
            </a:pPr>
            <a:r>
              <a:rPr lang="en-US" sz="1800" b="1" dirty="0">
                <a:solidFill>
                  <a:srgbClr val="8FA8E0"/>
                </a:solidFill>
                <a:latin typeface="Cambria" pitchFamily="34" charset="0"/>
                <a:ea typeface="Cambria" pitchFamily="34" charset="-122"/>
                <a:cs typeface="Cambria" pitchFamily="34" charset="-120"/>
              </a:rPr>
              <a:t>→</a:t>
            </a:r>
            <a:endParaRPr lang="en-US" sz="1800" dirty="0"/>
          </a:p>
        </p:txBody>
      </p:sp>
      <p:sp>
        <p:nvSpPr>
          <p:cNvPr id="10" name="Shape 8"/>
          <p:cNvSpPr/>
          <p:nvPr/>
        </p:nvSpPr>
        <p:spPr>
          <a:xfrm>
            <a:off x="5204308" y="2011680"/>
            <a:ext cx="1783080" cy="914400"/>
          </a:xfrm>
          <a:prstGeom prst="roundRect">
            <a:avLst>
              <a:gd name="adj" fmla="val 8000"/>
            </a:avLst>
          </a:prstGeom>
          <a:solidFill>
            <a:srgbClr val="26306E"/>
          </a:solidFill>
          <a:ln w="15875">
            <a:solidFill>
              <a:srgbClr val="8FA8E0"/>
            </a:solidFill>
            <a:prstDash val="solid"/>
          </a:ln>
        </p:spPr>
      </p:sp>
      <p:sp>
        <p:nvSpPr>
          <p:cNvPr id="11" name="Text 9"/>
          <p:cNvSpPr/>
          <p:nvPr/>
        </p:nvSpPr>
        <p:spPr>
          <a:xfrm>
            <a:off x="5204308" y="2011680"/>
            <a:ext cx="1783080" cy="9144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SVD</a:t>
            </a:r>
            <a:endParaRPr lang="en-US" sz="1400" dirty="0"/>
          </a:p>
        </p:txBody>
      </p:sp>
      <p:sp>
        <p:nvSpPr>
          <p:cNvPr id="12" name="Text 10"/>
          <p:cNvSpPr/>
          <p:nvPr/>
        </p:nvSpPr>
        <p:spPr>
          <a:xfrm>
            <a:off x="6987388" y="2011680"/>
            <a:ext cx="256032" cy="914400"/>
          </a:xfrm>
          <a:prstGeom prst="rect">
            <a:avLst/>
          </a:prstGeom>
          <a:noFill/>
          <a:ln/>
        </p:spPr>
        <p:txBody>
          <a:bodyPr wrap="square" rtlCol="0" anchor="ctr"/>
          <a:lstStyle/>
          <a:p>
            <a:pPr algn="ctr" indent="0" marL="0">
              <a:buNone/>
            </a:pPr>
            <a:r>
              <a:rPr lang="en-US" sz="1800" b="1" dirty="0">
                <a:solidFill>
                  <a:srgbClr val="8FA8E0"/>
                </a:solidFill>
                <a:latin typeface="Cambria" pitchFamily="34" charset="0"/>
                <a:ea typeface="Cambria" pitchFamily="34" charset="-122"/>
                <a:cs typeface="Cambria" pitchFamily="34" charset="-120"/>
              </a:rPr>
              <a:t>→</a:t>
            </a:r>
            <a:endParaRPr lang="en-US" sz="1800" dirty="0"/>
          </a:p>
        </p:txBody>
      </p:sp>
      <p:sp>
        <p:nvSpPr>
          <p:cNvPr id="13" name="Shape 11"/>
          <p:cNvSpPr/>
          <p:nvPr/>
        </p:nvSpPr>
        <p:spPr>
          <a:xfrm>
            <a:off x="7243420" y="2011680"/>
            <a:ext cx="1783080" cy="914400"/>
          </a:xfrm>
          <a:prstGeom prst="roundRect">
            <a:avLst>
              <a:gd name="adj" fmla="val 8000"/>
            </a:avLst>
          </a:prstGeom>
          <a:solidFill>
            <a:srgbClr val="E8871E"/>
          </a:solidFill>
          <a:ln w="15875">
            <a:solidFill>
              <a:srgbClr val="E8871E"/>
            </a:solidFill>
            <a:prstDash val="solid"/>
          </a:ln>
        </p:spPr>
      </p:sp>
      <p:sp>
        <p:nvSpPr>
          <p:cNvPr id="14" name="Text 12"/>
          <p:cNvSpPr/>
          <p:nvPr/>
        </p:nvSpPr>
        <p:spPr>
          <a:xfrm>
            <a:off x="7243420" y="2011680"/>
            <a:ext cx="1783080" cy="91440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UΣV</a:t>
            </a:r>
            <a:pPr algn="ctr" indent="0" marL="0">
              <a:buNone/>
            </a:pPr>
            <a:r>
              <a:rPr lang="en-US" sz="1400" b="1" baseline="30000" dirty="0">
                <a:solidFill>
                  <a:srgbClr val="1E2761"/>
                </a:solidFill>
                <a:latin typeface="Cambria" pitchFamily="34" charset="0"/>
                <a:ea typeface="Cambria" pitchFamily="34" charset="-122"/>
                <a:cs typeface="Cambria" pitchFamily="34" charset="-120"/>
              </a:rPr>
              <a:t>T</a:t>
            </a:r>
            <a:endParaRPr lang="en-US" sz="1400" dirty="0"/>
          </a:p>
        </p:txBody>
      </p:sp>
      <p:sp>
        <p:nvSpPr>
          <p:cNvPr id="15" name="Text 13"/>
          <p:cNvSpPr/>
          <p:nvPr/>
        </p:nvSpPr>
        <p:spPr>
          <a:xfrm>
            <a:off x="9026500" y="2011680"/>
            <a:ext cx="256032" cy="914400"/>
          </a:xfrm>
          <a:prstGeom prst="rect">
            <a:avLst/>
          </a:prstGeom>
          <a:noFill/>
          <a:ln/>
        </p:spPr>
        <p:txBody>
          <a:bodyPr wrap="square" rtlCol="0" anchor="ctr"/>
          <a:lstStyle/>
          <a:p>
            <a:pPr algn="ctr" indent="0" marL="0">
              <a:buNone/>
            </a:pPr>
            <a:r>
              <a:rPr lang="en-US" sz="1800" b="1" dirty="0">
                <a:solidFill>
                  <a:srgbClr val="8FA8E0"/>
                </a:solidFill>
                <a:latin typeface="Cambria" pitchFamily="34" charset="0"/>
                <a:ea typeface="Cambria" pitchFamily="34" charset="-122"/>
                <a:cs typeface="Cambria" pitchFamily="34" charset="-120"/>
              </a:rPr>
              <a:t>→</a:t>
            </a:r>
            <a:endParaRPr lang="en-US" sz="1800" dirty="0"/>
          </a:p>
        </p:txBody>
      </p:sp>
      <p:sp>
        <p:nvSpPr>
          <p:cNvPr id="16" name="Shape 14"/>
          <p:cNvSpPr/>
          <p:nvPr/>
        </p:nvSpPr>
        <p:spPr>
          <a:xfrm>
            <a:off x="9282532" y="2011680"/>
            <a:ext cx="1783080" cy="914400"/>
          </a:xfrm>
          <a:prstGeom prst="roundRect">
            <a:avLst>
              <a:gd name="adj" fmla="val 8000"/>
            </a:avLst>
          </a:prstGeom>
          <a:solidFill>
            <a:srgbClr val="26306E"/>
          </a:solidFill>
          <a:ln w="15875">
            <a:solidFill>
              <a:srgbClr val="8FA8E0"/>
            </a:solidFill>
            <a:prstDash val="solid"/>
          </a:ln>
        </p:spPr>
      </p:sp>
      <p:sp>
        <p:nvSpPr>
          <p:cNvPr id="17" name="Text 15"/>
          <p:cNvSpPr/>
          <p:nvPr/>
        </p:nvSpPr>
        <p:spPr>
          <a:xfrm>
            <a:off x="9282532" y="2011680"/>
            <a:ext cx="1783080" cy="914400"/>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Principal</a:t>
            </a:r>
            <a:endParaRPr lang="en-US" sz="1400" dirty="0"/>
          </a:p>
          <a:p>
            <a:pPr algn="ctr" indent="0" marL="0">
              <a:buNone/>
            </a:pPr>
            <a:r>
              <a:rPr lang="en-US" sz="1400" b="1" dirty="0">
                <a:solidFill>
                  <a:srgbClr val="FFFFFF"/>
                </a:solidFill>
                <a:latin typeface="Cambria" pitchFamily="34" charset="0"/>
                <a:ea typeface="Cambria" pitchFamily="34" charset="-122"/>
                <a:cs typeface="Cambria" pitchFamily="34" charset="-120"/>
              </a:rPr>
              <a:t>Components</a:t>
            </a:r>
            <a:endParaRPr lang="en-US" sz="1400" dirty="0"/>
          </a:p>
        </p:txBody>
      </p:sp>
      <p:sp>
        <p:nvSpPr>
          <p:cNvPr id="18" name="Text 16"/>
          <p:cNvSpPr/>
          <p:nvPr/>
        </p:nvSpPr>
        <p:spPr>
          <a:xfrm>
            <a:off x="822960" y="3566160"/>
            <a:ext cx="10515600" cy="1188720"/>
          </a:xfrm>
          <a:prstGeom prst="rect">
            <a:avLst/>
          </a:prstGeom>
          <a:noFill/>
          <a:ln/>
        </p:spPr>
        <p:txBody>
          <a:bodyPr wrap="square" rtlCol="0" anchor="t"/>
          <a:lstStyle/>
          <a:p>
            <a:pPr indent="0" marL="0">
              <a:buNone/>
            </a:pPr>
            <a:r>
              <a:rPr lang="en-US" sz="1600" dirty="0">
                <a:solidFill>
                  <a:srgbClr val="FFFFFF"/>
                </a:solidFill>
                <a:latin typeface="Calibri" pitchFamily="34" charset="0"/>
                <a:ea typeface="Calibri" pitchFamily="34" charset="-122"/>
                <a:cs typeface="Calibri" pitchFamily="34" charset="-120"/>
              </a:rPr>
              <a:t>You could compute PCA by eigendecomposing the covariance matrix directly — many textbooks teach it that way first. In practice it's usually computed via SVD of the centered data matrix directly — same answer, more numerically stable, and it's the exact tool we've spent three sessions building.</a:t>
            </a:r>
            <a:endParaRPr lang="en-US" sz="1600" dirty="0"/>
          </a:p>
        </p:txBody>
      </p:sp>
      <p:sp>
        <p:nvSpPr>
          <p:cNvPr id="19" name="Text 17"/>
          <p:cNvSpPr/>
          <p:nvPr/>
        </p:nvSpPr>
        <p:spPr>
          <a:xfrm>
            <a:off x="822960" y="5029200"/>
            <a:ext cx="10515600" cy="73152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Explained variance = proportion of Σ's total energy captured by the top k components — same idea as "k=50 captured 98.9% of the image" from Session 3.</a:t>
            </a:r>
            <a:endParaRPr lang="en-US" sz="1300" dirty="0"/>
          </a:p>
        </p:txBody>
      </p:sp>
      <p:sp>
        <p:nvSpPr>
          <p:cNvPr id="20" name="Text 18"/>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A PRACTICAL GOTCHA</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Careful: Centering Isn't Always Enough</a:t>
            </a:r>
            <a:endParaRPr lang="en-US" sz="2900" dirty="0"/>
          </a:p>
        </p:txBody>
      </p:sp>
      <p:pic>
        <p:nvPicPr>
          <p:cNvPr id="4" name="Image 0" descr="assets/slide7_standardization.png">    </p:cNvPr>
          <p:cNvPicPr>
            <a:picLocks noChangeAspect="1"/>
          </p:cNvPicPr>
          <p:nvPr/>
        </p:nvPicPr>
        <p:blipFill>
          <a:blip r:embed="rId1"/>
          <a:stretch>
            <a:fillRect/>
          </a:stretch>
        </p:blipFill>
        <p:spPr>
          <a:xfrm>
            <a:off x="457200" y="1463040"/>
            <a:ext cx="11247120" cy="3337560"/>
          </a:xfrm>
          <a:prstGeom prst="rect">
            <a:avLst/>
          </a:prstGeom>
        </p:spPr>
      </p:pic>
      <p:sp>
        <p:nvSpPr>
          <p:cNvPr id="5" name="Text 2"/>
          <p:cNvSpPr/>
          <p:nvPr/>
        </p:nvSpPr>
        <p:spPr>
          <a:xfrm>
            <a:off x="548640" y="4892040"/>
            <a:ext cx="11064240" cy="1005840"/>
          </a:xfrm>
          <a:prstGeom prst="rect">
            <a:avLst/>
          </a:prstGeom>
          <a:noFill/>
          <a:ln/>
        </p:spPr>
        <p:txBody>
          <a:bodyPr wrap="square" rtlCol="0" anchor="t"/>
          <a:lstStyle/>
          <a:p>
            <a:pPr algn="ctr" indent="0" marL="0">
              <a:buNone/>
            </a:pPr>
            <a:r>
              <a:rPr lang="en-US" sz="1450" dirty="0">
                <a:solidFill>
                  <a:srgbClr val="4A4F5A"/>
                </a:solidFill>
                <a:latin typeface="Calibri" pitchFamily="34" charset="0"/>
                <a:ea typeface="Calibri" pitchFamily="34" charset="-122"/>
                <a:cs typeface="Calibri" pitchFamily="34" charset="-120"/>
              </a:rPr>
              <a:t>Variance is about spread around the mean — that's why we center. But if features are on very different scales (income in dollars vs. age in years), centering alone isn't enough. Standardizing (center, then divide by standard deviation) is usually the right move.</a:t>
            </a:r>
            <a:endParaRPr lang="en-US" sz="1450" dirty="0"/>
          </a:p>
        </p:txBody>
      </p:sp>
      <p:sp>
        <p:nvSpPr>
          <p:cNvPr id="6" name="Text 3"/>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A QUICK CALLBACK</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One More Thing Carries Over: Sign Ambiguity</a:t>
            </a:r>
            <a:endParaRPr lang="en-US" sz="2900" dirty="0"/>
          </a:p>
        </p:txBody>
      </p:sp>
      <p:pic>
        <p:nvPicPr>
          <p:cNvPr id="4" name="Image 0" descr="assets/slide8_sign_ambiguity.png">    </p:cNvPr>
          <p:cNvPicPr>
            <a:picLocks noChangeAspect="1"/>
          </p:cNvPicPr>
          <p:nvPr/>
        </p:nvPicPr>
        <p:blipFill>
          <a:blip r:embed="rId1"/>
          <a:stretch>
            <a:fillRect/>
          </a:stretch>
        </p:blipFill>
        <p:spPr>
          <a:xfrm>
            <a:off x="914400" y="1600200"/>
            <a:ext cx="10332720" cy="3566160"/>
          </a:xfrm>
          <a:prstGeom prst="rect">
            <a:avLst/>
          </a:prstGeom>
        </p:spPr>
      </p:pic>
      <p:sp>
        <p:nvSpPr>
          <p:cNvPr id="5" name="Text 2"/>
          <p:cNvSpPr/>
          <p:nvPr/>
        </p:nvSpPr>
        <p:spPr>
          <a:xfrm>
            <a:off x="640080" y="5303520"/>
            <a:ext cx="10607040" cy="731520"/>
          </a:xfrm>
          <a:prstGeom prst="rect">
            <a:avLst/>
          </a:prstGeom>
          <a:noFill/>
          <a:ln/>
        </p:spPr>
        <p:txBody>
          <a:bodyPr wrap="square" rtlCol="0" anchor="ctr"/>
          <a:lstStyle/>
          <a:p>
            <a:pPr algn="ctr" indent="0" marL="0">
              <a:buNone/>
            </a:pPr>
            <a:r>
              <a:rPr lang="en-US" sz="1550" dirty="0">
                <a:solidFill>
                  <a:srgbClr val="4A4F5A"/>
                </a:solidFill>
                <a:latin typeface="Calibri" pitchFamily="34" charset="0"/>
                <a:ea typeface="Calibri" pitchFamily="34" charset="-122"/>
                <a:cs typeface="Calibri" pitchFamily="34" charset="-120"/>
              </a:rPr>
              <a:t>Principal components — like singular vectors generally — are only defined up to a sign flip. A component and its negation represent the same direction.</a:t>
            </a:r>
            <a:endParaRPr lang="en-US" sz="1550" dirty="0"/>
          </a:p>
        </p:txBody>
      </p:sp>
      <p:sp>
        <p:nvSpPr>
          <p:cNvPr id="6" name="Text 3"/>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DEMO</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Demo: The Iris Dataset</a:t>
            </a:r>
            <a:endParaRPr lang="en-US" sz="2900" dirty="0"/>
          </a:p>
        </p:txBody>
      </p:sp>
      <p:pic>
        <p:nvPicPr>
          <p:cNvPr id="4" name="Image 0" descr="assets/slide9_iris_preview.png">    </p:cNvPr>
          <p:cNvPicPr>
            <a:picLocks noChangeAspect="1"/>
          </p:cNvPicPr>
          <p:nvPr/>
        </p:nvPicPr>
        <p:blipFill>
          <a:blip r:embed="rId1"/>
          <a:stretch>
            <a:fillRect/>
          </a:stretch>
        </p:blipFill>
        <p:spPr>
          <a:xfrm>
            <a:off x="1371600" y="1554480"/>
            <a:ext cx="9418320" cy="2377440"/>
          </a:xfrm>
          <a:prstGeom prst="rect">
            <a:avLst/>
          </a:prstGeom>
        </p:spPr>
      </p:pic>
      <p:sp>
        <p:nvSpPr>
          <p:cNvPr id="5" name="Text 2"/>
          <p:cNvSpPr/>
          <p:nvPr/>
        </p:nvSpPr>
        <p:spPr>
          <a:xfrm>
            <a:off x="640080" y="4114800"/>
            <a:ext cx="10607040" cy="457200"/>
          </a:xfrm>
          <a:prstGeom prst="rect">
            <a:avLst/>
          </a:prstGeom>
          <a:noFill/>
          <a:ln/>
        </p:spPr>
        <p:txBody>
          <a:bodyPr wrap="square" rtlCol="0" anchor="ctr"/>
          <a:lstStyle/>
          <a:p>
            <a:pPr algn="ctr" indent="0" marL="0">
              <a:buNone/>
            </a:pPr>
            <a:r>
              <a:rPr lang="en-US" sz="1400" i="1" dirty="0">
                <a:solidFill>
                  <a:srgbClr val="E8871E"/>
                </a:solidFill>
                <a:latin typeface="Calibri" pitchFamily="34" charset="0"/>
                <a:ea typeface="Calibri" pitchFamily="34" charset="-122"/>
                <a:cs typeface="Calibri" pitchFamily="34" charset="-120"/>
              </a:rPr>
              <a:t>150 flowers total — 4 measurements each, 3 species</a:t>
            </a:r>
            <a:endParaRPr lang="en-US" sz="1400" dirty="0"/>
          </a:p>
        </p:txBody>
      </p:sp>
      <p:sp>
        <p:nvSpPr>
          <p:cNvPr id="6" name="Text 3"/>
          <p:cNvSpPr/>
          <p:nvPr/>
        </p:nvSpPr>
        <p:spPr>
          <a:xfrm>
            <a:off x="640080" y="4754880"/>
            <a:ext cx="10607040" cy="822960"/>
          </a:xfrm>
          <a:prstGeom prst="rect">
            <a:avLst/>
          </a:prstGeom>
          <a:noFill/>
          <a:ln/>
        </p:spPr>
        <p:txBody>
          <a:bodyPr wrap="square" rtlCol="0" anchor="ctr"/>
          <a:lstStyle/>
          <a:p>
            <a:pPr algn="ctr" indent="0" marL="0">
              <a:buNone/>
            </a:pPr>
            <a:r>
              <a:rPr lang="en-US" sz="1600" dirty="0">
                <a:solidFill>
                  <a:srgbClr val="4A4F5A"/>
                </a:solidFill>
                <a:latin typeface="Calibri" pitchFamily="34" charset="0"/>
                <a:ea typeface="Calibri" pitchFamily="34" charset="-122"/>
                <a:cs typeface="Calibri" pitchFamily="34" charset="-120"/>
              </a:rPr>
              <a:t>Same math, real data: do the measurements alone separate the species, without ever being told which is which?</a:t>
            </a:r>
            <a:endParaRPr lang="en-US" sz="1600" dirty="0"/>
          </a:p>
        </p:txBody>
      </p:sp>
      <p:sp>
        <p:nvSpPr>
          <p:cNvPr id="7" name="Text 4"/>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8" name="Text 5"/>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DEMO, CONTINUED</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The Projection and the Scree Plot</a:t>
            </a:r>
            <a:endParaRPr lang="en-US" sz="2900" dirty="0"/>
          </a:p>
        </p:txBody>
      </p:sp>
      <p:pic>
        <p:nvPicPr>
          <p:cNvPr id="4" name="Image 0" descr="assets/slide10_iris_pca_scree.png">    </p:cNvPr>
          <p:cNvPicPr>
            <a:picLocks noChangeAspect="1"/>
          </p:cNvPicPr>
          <p:nvPr/>
        </p:nvPicPr>
        <p:blipFill>
          <a:blip r:embed="rId1"/>
          <a:stretch>
            <a:fillRect/>
          </a:stretch>
        </p:blipFill>
        <p:spPr>
          <a:xfrm>
            <a:off x="274320" y="1463040"/>
            <a:ext cx="11612880" cy="3566160"/>
          </a:xfrm>
          <a:prstGeom prst="rect">
            <a:avLst/>
          </a:prstGeom>
        </p:spPr>
      </p:pic>
      <p:sp>
        <p:nvSpPr>
          <p:cNvPr id="5" name="Text 2"/>
          <p:cNvSpPr/>
          <p:nvPr/>
        </p:nvSpPr>
        <p:spPr>
          <a:xfrm>
            <a:off x="548640" y="5120640"/>
            <a:ext cx="11064240" cy="914400"/>
          </a:xfrm>
          <a:prstGeom prst="rect">
            <a:avLst/>
          </a:prstGeom>
          <a:noFill/>
          <a:ln/>
        </p:spPr>
        <p:txBody>
          <a:bodyPr wrap="square" rtlCol="0" anchor="t"/>
          <a:lstStyle/>
          <a:p>
            <a:pPr algn="ctr" indent="0" marL="0">
              <a:buNone/>
            </a:pPr>
            <a:r>
              <a:rPr lang="en-US" sz="1400" dirty="0">
                <a:solidFill>
                  <a:srgbClr val="4A4F5A"/>
                </a:solidFill>
                <a:latin typeface="Calibri" pitchFamily="34" charset="0"/>
                <a:ea typeface="Calibri" pitchFamily="34" charset="-122"/>
                <a:cs typeface="Calibri" pitchFamily="34" charset="-120"/>
              </a:rPr>
              <a:t>One species splits off cleanly. The other two overlap. That's not a failure of PCA — it's an honest reflection of the data: those two species really are more similar to each other on these four measurements.</a:t>
            </a:r>
            <a:endParaRPr lang="en-US" sz="1400" dirty="0"/>
          </a:p>
        </p:txBody>
      </p:sp>
      <p:sp>
        <p:nvSpPr>
          <p:cNvPr id="6" name="Text 3"/>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DELIBERATE CALLBACK, NOT NEW CONTENT</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How Many Components? (You Already Know This)</a:t>
            </a:r>
            <a:endParaRPr lang="en-US" sz="2900" dirty="0"/>
          </a:p>
        </p:txBody>
      </p:sp>
      <p:sp>
        <p:nvSpPr>
          <p:cNvPr id="4" name="Shape 2"/>
          <p:cNvSpPr/>
          <p:nvPr/>
        </p:nvSpPr>
        <p:spPr>
          <a:xfrm>
            <a:off x="640080" y="1737360"/>
            <a:ext cx="5212080" cy="1828800"/>
          </a:xfrm>
          <a:prstGeom prst="roundRect">
            <a:avLst>
              <a:gd name="adj" fmla="val 4000"/>
            </a:avLst>
          </a:prstGeom>
          <a:solidFill>
            <a:srgbClr val="F4F6FB"/>
          </a:solidFill>
          <a:ln w="12700">
            <a:solidFill>
              <a:srgbClr val="8FA8E0"/>
            </a:solidFill>
            <a:prstDash val="solid"/>
          </a:ln>
        </p:spPr>
      </p:sp>
      <p:sp>
        <p:nvSpPr>
          <p:cNvPr id="5" name="Text 3"/>
          <p:cNvSpPr/>
          <p:nvPr/>
        </p:nvSpPr>
        <p:spPr>
          <a:xfrm>
            <a:off x="868680" y="1901952"/>
            <a:ext cx="475488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Cumulative variance</a:t>
            </a:r>
            <a:endParaRPr lang="en-US" sz="1500" dirty="0"/>
          </a:p>
        </p:txBody>
      </p:sp>
      <p:sp>
        <p:nvSpPr>
          <p:cNvPr id="6" name="Text 4"/>
          <p:cNvSpPr/>
          <p:nvPr/>
        </p:nvSpPr>
        <p:spPr>
          <a:xfrm>
            <a:off x="868680" y="2359152"/>
            <a:ext cx="4754880" cy="1097280"/>
          </a:xfrm>
          <a:prstGeom prst="rect">
            <a:avLst/>
          </a:prstGeom>
          <a:noFill/>
          <a:ln/>
        </p:spPr>
        <p:txBody>
          <a:bodyPr wrap="square" rtlCol="0" anchor="t"/>
          <a:lstStyle/>
          <a:p>
            <a:pPr indent="0" marL="0">
              <a:buNone/>
            </a:pPr>
            <a:r>
              <a:rPr lang="en-US" sz="1250" dirty="0">
                <a:solidFill>
                  <a:srgbClr val="4A4F5A"/>
                </a:solidFill>
                <a:latin typeface="Calibri" pitchFamily="34" charset="0"/>
                <a:ea typeface="Calibri" pitchFamily="34" charset="-122"/>
                <a:cs typeface="Calibri" pitchFamily="34" charset="-120"/>
              </a:rPr>
              <a:t>Pick k where the curve crosses a target, e.g. 90% or 95%.</a:t>
            </a:r>
            <a:endParaRPr lang="en-US" sz="1250" dirty="0"/>
          </a:p>
        </p:txBody>
      </p:sp>
      <p:sp>
        <p:nvSpPr>
          <p:cNvPr id="7" name="Shape 5"/>
          <p:cNvSpPr/>
          <p:nvPr/>
        </p:nvSpPr>
        <p:spPr>
          <a:xfrm>
            <a:off x="6172200" y="1737360"/>
            <a:ext cx="5212080" cy="1828800"/>
          </a:xfrm>
          <a:prstGeom prst="roundRect">
            <a:avLst>
              <a:gd name="adj" fmla="val 4000"/>
            </a:avLst>
          </a:prstGeom>
          <a:solidFill>
            <a:srgbClr val="F4F6FB"/>
          </a:solidFill>
          <a:ln w="12700">
            <a:solidFill>
              <a:srgbClr val="8FA8E0"/>
            </a:solidFill>
            <a:prstDash val="solid"/>
          </a:ln>
        </p:spPr>
      </p:sp>
      <p:sp>
        <p:nvSpPr>
          <p:cNvPr id="8" name="Text 6"/>
          <p:cNvSpPr/>
          <p:nvPr/>
        </p:nvSpPr>
        <p:spPr>
          <a:xfrm>
            <a:off x="6400800" y="1901952"/>
            <a:ext cx="475488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Elbow method</a:t>
            </a:r>
            <a:endParaRPr lang="en-US" sz="1500" dirty="0"/>
          </a:p>
        </p:txBody>
      </p:sp>
      <p:sp>
        <p:nvSpPr>
          <p:cNvPr id="9" name="Text 7"/>
          <p:cNvSpPr/>
          <p:nvPr/>
        </p:nvSpPr>
        <p:spPr>
          <a:xfrm>
            <a:off x="6400800" y="2359152"/>
            <a:ext cx="4754880" cy="1097280"/>
          </a:xfrm>
          <a:prstGeom prst="rect">
            <a:avLst/>
          </a:prstGeom>
          <a:noFill/>
          <a:ln/>
        </p:spPr>
        <p:txBody>
          <a:bodyPr wrap="square" rtlCol="0" anchor="t"/>
          <a:lstStyle/>
          <a:p>
            <a:pPr indent="0" marL="0">
              <a:buNone/>
            </a:pPr>
            <a:r>
              <a:rPr lang="en-US" sz="1250" dirty="0">
                <a:solidFill>
                  <a:srgbClr val="4A4F5A"/>
                </a:solidFill>
                <a:latin typeface="Calibri" pitchFamily="34" charset="0"/>
                <a:ea typeface="Calibri" pitchFamily="34" charset="-122"/>
                <a:cs typeface="Calibri" pitchFamily="34" charset="-120"/>
              </a:rPr>
              <a:t>Look for where the scree plot visibly flattens.</a:t>
            </a:r>
            <a:endParaRPr lang="en-US" sz="1250" dirty="0"/>
          </a:p>
        </p:txBody>
      </p:sp>
      <p:sp>
        <p:nvSpPr>
          <p:cNvPr id="10" name="Shape 8"/>
          <p:cNvSpPr/>
          <p:nvPr/>
        </p:nvSpPr>
        <p:spPr>
          <a:xfrm>
            <a:off x="640080" y="3794760"/>
            <a:ext cx="5212080" cy="1828800"/>
          </a:xfrm>
          <a:prstGeom prst="roundRect">
            <a:avLst>
              <a:gd name="adj" fmla="val 4000"/>
            </a:avLst>
          </a:prstGeom>
          <a:solidFill>
            <a:srgbClr val="F4F6FB"/>
          </a:solidFill>
          <a:ln w="12700">
            <a:solidFill>
              <a:srgbClr val="8FA8E0"/>
            </a:solidFill>
            <a:prstDash val="solid"/>
          </a:ln>
        </p:spPr>
      </p:sp>
      <p:sp>
        <p:nvSpPr>
          <p:cNvPr id="11" name="Text 9"/>
          <p:cNvSpPr/>
          <p:nvPr/>
        </p:nvSpPr>
        <p:spPr>
          <a:xfrm>
            <a:off x="868680" y="3959352"/>
            <a:ext cx="475488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Domain constraints</a:t>
            </a:r>
            <a:endParaRPr lang="en-US" sz="1500" dirty="0"/>
          </a:p>
        </p:txBody>
      </p:sp>
      <p:sp>
        <p:nvSpPr>
          <p:cNvPr id="12" name="Text 10"/>
          <p:cNvSpPr/>
          <p:nvPr/>
        </p:nvSpPr>
        <p:spPr>
          <a:xfrm>
            <a:off x="868680" y="4416552"/>
            <a:ext cx="4754880" cy="1097280"/>
          </a:xfrm>
          <a:prstGeom prst="rect">
            <a:avLst/>
          </a:prstGeom>
          <a:noFill/>
          <a:ln/>
        </p:spPr>
        <p:txBody>
          <a:bodyPr wrap="square" rtlCol="0" anchor="t"/>
          <a:lstStyle/>
          <a:p>
            <a:pPr indent="0" marL="0">
              <a:buNone/>
            </a:pPr>
            <a:r>
              <a:rPr lang="en-US" sz="1250" dirty="0">
                <a:solidFill>
                  <a:srgbClr val="4A4F5A"/>
                </a:solidFill>
                <a:latin typeface="Calibri" pitchFamily="34" charset="0"/>
                <a:ea typeface="Calibri" pitchFamily="34" charset="-122"/>
                <a:cs typeface="Calibri" pitchFamily="34" charset="-120"/>
              </a:rPr>
              <a:t>"I need to visualize this, so k=2 or k=3, full stop."</a:t>
            </a:r>
            <a:endParaRPr lang="en-US" sz="1250" dirty="0"/>
          </a:p>
        </p:txBody>
      </p:sp>
      <p:sp>
        <p:nvSpPr>
          <p:cNvPr id="13" name="Shape 11"/>
          <p:cNvSpPr/>
          <p:nvPr/>
        </p:nvSpPr>
        <p:spPr>
          <a:xfrm>
            <a:off x="6172200" y="3794760"/>
            <a:ext cx="5212080" cy="1828800"/>
          </a:xfrm>
          <a:prstGeom prst="roundRect">
            <a:avLst>
              <a:gd name="adj" fmla="val 4000"/>
            </a:avLst>
          </a:prstGeom>
          <a:solidFill>
            <a:srgbClr val="F4F6FB"/>
          </a:solidFill>
          <a:ln w="12700">
            <a:solidFill>
              <a:srgbClr val="8FA8E0"/>
            </a:solidFill>
            <a:prstDash val="solid"/>
          </a:ln>
        </p:spPr>
      </p:sp>
      <p:sp>
        <p:nvSpPr>
          <p:cNvPr id="14" name="Text 12"/>
          <p:cNvSpPr/>
          <p:nvPr/>
        </p:nvSpPr>
        <p:spPr>
          <a:xfrm>
            <a:off x="6400800" y="3959352"/>
            <a:ext cx="4754880" cy="4114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Error vs. compression</a:t>
            </a:r>
            <a:endParaRPr lang="en-US" sz="1500" dirty="0"/>
          </a:p>
        </p:txBody>
      </p:sp>
      <p:sp>
        <p:nvSpPr>
          <p:cNvPr id="15" name="Text 13"/>
          <p:cNvSpPr/>
          <p:nvPr/>
        </p:nvSpPr>
        <p:spPr>
          <a:xfrm>
            <a:off x="6400800" y="4416552"/>
            <a:ext cx="4754880" cy="1097280"/>
          </a:xfrm>
          <a:prstGeom prst="rect">
            <a:avLst/>
          </a:prstGeom>
          <a:noFill/>
          <a:ln/>
        </p:spPr>
        <p:txBody>
          <a:bodyPr wrap="square" rtlCol="0" anchor="t"/>
          <a:lstStyle/>
          <a:p>
            <a:pPr indent="0" marL="0">
              <a:buNone/>
            </a:pPr>
            <a:r>
              <a:rPr lang="en-US" sz="1250" dirty="0">
                <a:solidFill>
                  <a:srgbClr val="4A4F5A"/>
                </a:solidFill>
                <a:latin typeface="Calibri" pitchFamily="34" charset="0"/>
                <a:ea typeface="Calibri" pitchFamily="34" charset="-122"/>
                <a:cs typeface="Calibri" pitchFamily="34" charset="-120"/>
              </a:rPr>
              <a:t>Smaller k = more compression, more reconstruction error. No free lunch.</a:t>
            </a:r>
            <a:endParaRPr lang="en-US" sz="1250" dirty="0"/>
          </a:p>
        </p:txBody>
      </p:sp>
      <p:sp>
        <p:nvSpPr>
          <p:cNvPr id="16" name="Text 14"/>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17" name="Text 15"/>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indent="0" marL="0">
              <a:buNone/>
            </a:pPr>
            <a:r>
              <a:rPr lang="en-US" sz="1200" b="1" spc="200" kern="0" dirty="0">
                <a:solidFill>
                  <a:srgbClr val="E8871E"/>
                </a:solidFill>
                <a:latin typeface="Calibri" pitchFamily="34" charset="0"/>
                <a:ea typeface="Calibri" pitchFamily="34" charset="-122"/>
                <a:cs typeface="Calibri" pitchFamily="34" charset="-120"/>
              </a:rPr>
              <a:t>INDUSTRY FRAMING</a:t>
            </a:r>
            <a:endParaRPr lang="en-US" sz="1200" dirty="0"/>
          </a:p>
        </p:txBody>
      </p:sp>
      <p:sp>
        <p:nvSpPr>
          <p:cNvPr id="3" name="Text 1"/>
          <p:cNvSpPr/>
          <p:nvPr/>
        </p:nvSpPr>
        <p:spPr>
          <a:xfrm>
            <a:off x="548640" y="621792"/>
            <a:ext cx="10881360" cy="822960"/>
          </a:xfrm>
          <a:prstGeom prst="rect">
            <a:avLst/>
          </a:prstGeom>
          <a:noFill/>
          <a:ln/>
        </p:spPr>
        <p:txBody>
          <a:bodyPr wrap="square" rtlCol="0" anchor="ctr"/>
          <a:lstStyle/>
          <a:p>
            <a:pPr indent="0" marL="0">
              <a:buNone/>
            </a:pPr>
            <a:r>
              <a:rPr lang="en-US" sz="2900" b="1" dirty="0">
                <a:solidFill>
                  <a:srgbClr val="1E2761"/>
                </a:solidFill>
                <a:latin typeface="Cambria" pitchFamily="34" charset="0"/>
                <a:ea typeface="Cambria" pitchFamily="34" charset="-122"/>
                <a:cs typeface="Cambria" pitchFamily="34" charset="-120"/>
              </a:rPr>
              <a:t>Where This Shows Up</a:t>
            </a:r>
            <a:endParaRPr lang="en-US" sz="2900" dirty="0"/>
          </a:p>
        </p:txBody>
      </p:sp>
      <p:sp>
        <p:nvSpPr>
          <p:cNvPr id="4" name="Shape 2"/>
          <p:cNvSpPr/>
          <p:nvPr/>
        </p:nvSpPr>
        <p:spPr>
          <a:xfrm>
            <a:off x="640080" y="1737360"/>
            <a:ext cx="3383280" cy="3017520"/>
          </a:xfrm>
          <a:prstGeom prst="roundRect">
            <a:avLst>
              <a:gd name="adj" fmla="val 3030"/>
            </a:avLst>
          </a:prstGeom>
          <a:solidFill>
            <a:srgbClr val="F4F6FB"/>
          </a:solidFill>
          <a:ln w="12700">
            <a:solidFill>
              <a:srgbClr val="8FA8E0"/>
            </a:solidFill>
            <a:prstDash val="solid"/>
          </a:ln>
        </p:spPr>
      </p:sp>
      <p:sp>
        <p:nvSpPr>
          <p:cNvPr id="5" name="Shape 3"/>
          <p:cNvSpPr/>
          <p:nvPr/>
        </p:nvSpPr>
        <p:spPr>
          <a:xfrm>
            <a:off x="1920240" y="2011680"/>
            <a:ext cx="822960" cy="822960"/>
          </a:xfrm>
          <a:prstGeom prst="ellipse">
            <a:avLst/>
          </a:prstGeom>
          <a:solidFill>
            <a:srgbClr val="1E2761"/>
          </a:solidFill>
          <a:ln/>
        </p:spPr>
      </p:sp>
      <p:sp>
        <p:nvSpPr>
          <p:cNvPr id="6" name="Text 4"/>
          <p:cNvSpPr/>
          <p:nvPr/>
        </p:nvSpPr>
        <p:spPr>
          <a:xfrm>
            <a:off x="1920240" y="2011680"/>
            <a:ext cx="822960" cy="822960"/>
          </a:xfrm>
          <a:prstGeom prst="rect">
            <a:avLst/>
          </a:prstGeom>
          <a:noFill/>
          <a:ln/>
        </p:spPr>
        <p:txBody>
          <a:bodyPr wrap="square" rtlCol="0" anchor="ctr"/>
          <a:lstStyle/>
          <a:p>
            <a:pPr algn="ctr" indent="0" marL="0">
              <a:buNone/>
            </a:pPr>
            <a:r>
              <a:rPr lang="en-US" sz="2200" b="1" dirty="0">
                <a:solidFill>
                  <a:srgbClr val="E8871E"/>
                </a:solidFill>
                <a:latin typeface="Cambria" pitchFamily="34" charset="0"/>
                <a:ea typeface="Cambria" pitchFamily="34" charset="-122"/>
                <a:cs typeface="Cambria" pitchFamily="34" charset="-120"/>
              </a:rPr>
              <a:t>E</a:t>
            </a:r>
            <a:endParaRPr lang="en-US" sz="2200" dirty="0"/>
          </a:p>
        </p:txBody>
      </p:sp>
      <p:sp>
        <p:nvSpPr>
          <p:cNvPr id="7" name="Text 5"/>
          <p:cNvSpPr/>
          <p:nvPr/>
        </p:nvSpPr>
        <p:spPr>
          <a:xfrm>
            <a:off x="777240" y="2971800"/>
            <a:ext cx="3108960" cy="640080"/>
          </a:xfrm>
          <a:prstGeom prst="rect">
            <a:avLst/>
          </a:prstGeom>
          <a:noFill/>
          <a:ln/>
        </p:spPr>
        <p:txBody>
          <a:bodyPr wrap="square" rtlCol="0" anchor="ctr"/>
          <a:lstStyle/>
          <a:p>
            <a:pPr algn="ctr" indent="0" marL="0">
              <a:buNone/>
            </a:pPr>
            <a:r>
              <a:rPr lang="en-US" sz="1450" b="1" dirty="0">
                <a:solidFill>
                  <a:srgbClr val="1E2761"/>
                </a:solidFill>
                <a:latin typeface="Cambria" pitchFamily="34" charset="0"/>
                <a:ea typeface="Cambria" pitchFamily="34" charset="-122"/>
                <a:cs typeface="Cambria" pitchFamily="34" charset="-120"/>
              </a:rPr>
              <a:t>Exploratory Data Analysis</a:t>
            </a:r>
            <a:endParaRPr lang="en-US" sz="1450" dirty="0"/>
          </a:p>
        </p:txBody>
      </p:sp>
      <p:sp>
        <p:nvSpPr>
          <p:cNvPr id="8" name="Text 6"/>
          <p:cNvSpPr/>
          <p:nvPr/>
        </p:nvSpPr>
        <p:spPr>
          <a:xfrm>
            <a:off x="822960" y="3566160"/>
            <a:ext cx="3017520" cy="1143000"/>
          </a:xfrm>
          <a:prstGeom prst="rect">
            <a:avLst/>
          </a:prstGeom>
          <a:noFill/>
          <a:ln/>
        </p:spPr>
        <p:txBody>
          <a:bodyPr wrap="square" rtlCol="0" anchor="t"/>
          <a:lstStyle/>
          <a:p>
            <a:pPr algn="ctr" indent="0" marL="0">
              <a:buNone/>
            </a:pPr>
            <a:r>
              <a:rPr lang="en-US" sz="1200" dirty="0">
                <a:solidFill>
                  <a:srgbClr val="4A4F5A"/>
                </a:solidFill>
                <a:latin typeface="Calibri" pitchFamily="34" charset="0"/>
                <a:ea typeface="Calibri" pitchFamily="34" charset="-122"/>
                <a:cs typeface="Calibri" pitchFamily="34" charset="-120"/>
              </a:rPr>
              <a:t>The first thing many data scientists do with a new high-dimensional dataset, before any modeling.</a:t>
            </a:r>
            <a:endParaRPr lang="en-US" sz="1200" dirty="0"/>
          </a:p>
        </p:txBody>
      </p:sp>
      <p:sp>
        <p:nvSpPr>
          <p:cNvPr id="9" name="Shape 7"/>
          <p:cNvSpPr/>
          <p:nvPr/>
        </p:nvSpPr>
        <p:spPr>
          <a:xfrm>
            <a:off x="4343400" y="1737360"/>
            <a:ext cx="3383280" cy="3017520"/>
          </a:xfrm>
          <a:prstGeom prst="roundRect">
            <a:avLst>
              <a:gd name="adj" fmla="val 3030"/>
            </a:avLst>
          </a:prstGeom>
          <a:solidFill>
            <a:srgbClr val="F4F6FB"/>
          </a:solidFill>
          <a:ln w="12700">
            <a:solidFill>
              <a:srgbClr val="8FA8E0"/>
            </a:solidFill>
            <a:prstDash val="solid"/>
          </a:ln>
        </p:spPr>
      </p:sp>
      <p:sp>
        <p:nvSpPr>
          <p:cNvPr id="10" name="Shape 8"/>
          <p:cNvSpPr/>
          <p:nvPr/>
        </p:nvSpPr>
        <p:spPr>
          <a:xfrm>
            <a:off x="5623560" y="2011680"/>
            <a:ext cx="822960" cy="822960"/>
          </a:xfrm>
          <a:prstGeom prst="ellipse">
            <a:avLst/>
          </a:prstGeom>
          <a:solidFill>
            <a:srgbClr val="1E2761"/>
          </a:solidFill>
          <a:ln/>
        </p:spPr>
      </p:sp>
      <p:sp>
        <p:nvSpPr>
          <p:cNvPr id="11" name="Text 9"/>
          <p:cNvSpPr/>
          <p:nvPr/>
        </p:nvSpPr>
        <p:spPr>
          <a:xfrm>
            <a:off x="5623560" y="2011680"/>
            <a:ext cx="822960" cy="822960"/>
          </a:xfrm>
          <a:prstGeom prst="rect">
            <a:avLst/>
          </a:prstGeom>
          <a:noFill/>
          <a:ln/>
        </p:spPr>
        <p:txBody>
          <a:bodyPr wrap="square" rtlCol="0" anchor="ctr"/>
          <a:lstStyle/>
          <a:p>
            <a:pPr algn="ctr" indent="0" marL="0">
              <a:buNone/>
            </a:pPr>
            <a:r>
              <a:rPr lang="en-US" sz="2200" b="1" dirty="0">
                <a:solidFill>
                  <a:srgbClr val="E8871E"/>
                </a:solidFill>
                <a:latin typeface="Cambria" pitchFamily="34" charset="0"/>
                <a:ea typeface="Cambria" pitchFamily="34" charset="-122"/>
                <a:cs typeface="Cambria" pitchFamily="34" charset="-120"/>
              </a:rPr>
              <a:t>F</a:t>
            </a:r>
            <a:endParaRPr lang="en-US" sz="2200" dirty="0"/>
          </a:p>
        </p:txBody>
      </p:sp>
      <p:sp>
        <p:nvSpPr>
          <p:cNvPr id="12" name="Text 10"/>
          <p:cNvSpPr/>
          <p:nvPr/>
        </p:nvSpPr>
        <p:spPr>
          <a:xfrm>
            <a:off x="4480560" y="2971800"/>
            <a:ext cx="3108960" cy="640080"/>
          </a:xfrm>
          <a:prstGeom prst="rect">
            <a:avLst/>
          </a:prstGeom>
          <a:noFill/>
          <a:ln/>
        </p:spPr>
        <p:txBody>
          <a:bodyPr wrap="square" rtlCol="0" anchor="ctr"/>
          <a:lstStyle/>
          <a:p>
            <a:pPr algn="ctr" indent="0" marL="0">
              <a:buNone/>
            </a:pPr>
            <a:r>
              <a:rPr lang="en-US" sz="1450" b="1" dirty="0">
                <a:solidFill>
                  <a:srgbClr val="1E2761"/>
                </a:solidFill>
                <a:latin typeface="Cambria" pitchFamily="34" charset="0"/>
                <a:ea typeface="Cambria" pitchFamily="34" charset="-122"/>
                <a:cs typeface="Cambria" pitchFamily="34" charset="-120"/>
              </a:rPr>
              <a:t>Feature Engineering</a:t>
            </a:r>
            <a:endParaRPr lang="en-US" sz="1450" dirty="0"/>
          </a:p>
        </p:txBody>
      </p:sp>
      <p:sp>
        <p:nvSpPr>
          <p:cNvPr id="13" name="Text 11"/>
          <p:cNvSpPr/>
          <p:nvPr/>
        </p:nvSpPr>
        <p:spPr>
          <a:xfrm>
            <a:off x="4526280" y="3566160"/>
            <a:ext cx="3017520" cy="1143000"/>
          </a:xfrm>
          <a:prstGeom prst="rect">
            <a:avLst/>
          </a:prstGeom>
          <a:noFill/>
          <a:ln/>
        </p:spPr>
        <p:txBody>
          <a:bodyPr wrap="square" rtlCol="0" anchor="t"/>
          <a:lstStyle/>
          <a:p>
            <a:pPr algn="ctr" indent="0" marL="0">
              <a:buNone/>
            </a:pPr>
            <a:r>
              <a:rPr lang="en-US" sz="1200" dirty="0">
                <a:solidFill>
                  <a:srgbClr val="4A4F5A"/>
                </a:solidFill>
                <a:latin typeface="Calibri" pitchFamily="34" charset="0"/>
                <a:ea typeface="Calibri" pitchFamily="34" charset="-122"/>
                <a:cs typeface="Calibri" pitchFamily="34" charset="-120"/>
              </a:rPr>
              <a:t>Principal components used directly as inputs to a downstream model, especially when original features are correlated.</a:t>
            </a:r>
            <a:endParaRPr lang="en-US" sz="1200" dirty="0"/>
          </a:p>
        </p:txBody>
      </p:sp>
      <p:sp>
        <p:nvSpPr>
          <p:cNvPr id="14" name="Shape 12"/>
          <p:cNvSpPr/>
          <p:nvPr/>
        </p:nvSpPr>
        <p:spPr>
          <a:xfrm>
            <a:off x="8046720" y="1737360"/>
            <a:ext cx="3383280" cy="3017520"/>
          </a:xfrm>
          <a:prstGeom prst="roundRect">
            <a:avLst>
              <a:gd name="adj" fmla="val 3030"/>
            </a:avLst>
          </a:prstGeom>
          <a:solidFill>
            <a:srgbClr val="F4F6FB"/>
          </a:solidFill>
          <a:ln w="12700">
            <a:solidFill>
              <a:srgbClr val="8FA8E0"/>
            </a:solidFill>
            <a:prstDash val="solid"/>
          </a:ln>
        </p:spPr>
      </p:sp>
      <p:sp>
        <p:nvSpPr>
          <p:cNvPr id="15" name="Shape 13"/>
          <p:cNvSpPr/>
          <p:nvPr/>
        </p:nvSpPr>
        <p:spPr>
          <a:xfrm>
            <a:off x="9326880" y="2011680"/>
            <a:ext cx="822960" cy="822960"/>
          </a:xfrm>
          <a:prstGeom prst="ellipse">
            <a:avLst/>
          </a:prstGeom>
          <a:solidFill>
            <a:srgbClr val="1E2761"/>
          </a:solidFill>
          <a:ln/>
        </p:spPr>
      </p:sp>
      <p:sp>
        <p:nvSpPr>
          <p:cNvPr id="16" name="Text 14"/>
          <p:cNvSpPr/>
          <p:nvPr/>
        </p:nvSpPr>
        <p:spPr>
          <a:xfrm>
            <a:off x="9326880" y="2011680"/>
            <a:ext cx="822960" cy="822960"/>
          </a:xfrm>
          <a:prstGeom prst="rect">
            <a:avLst/>
          </a:prstGeom>
          <a:noFill/>
          <a:ln/>
        </p:spPr>
        <p:txBody>
          <a:bodyPr wrap="square" rtlCol="0" anchor="ctr"/>
          <a:lstStyle/>
          <a:p>
            <a:pPr algn="ctr" indent="0" marL="0">
              <a:buNone/>
            </a:pPr>
            <a:r>
              <a:rPr lang="en-US" sz="2200" b="1" dirty="0">
                <a:solidFill>
                  <a:srgbClr val="E8871E"/>
                </a:solidFill>
                <a:latin typeface="Cambria" pitchFamily="34" charset="0"/>
                <a:ea typeface="Cambria" pitchFamily="34" charset="-122"/>
                <a:cs typeface="Cambria" pitchFamily="34" charset="-120"/>
              </a:rPr>
              <a:t>V</a:t>
            </a:r>
            <a:endParaRPr lang="en-US" sz="2200" dirty="0"/>
          </a:p>
        </p:txBody>
      </p:sp>
      <p:sp>
        <p:nvSpPr>
          <p:cNvPr id="17" name="Text 15"/>
          <p:cNvSpPr/>
          <p:nvPr/>
        </p:nvSpPr>
        <p:spPr>
          <a:xfrm>
            <a:off x="8183880" y="2971800"/>
            <a:ext cx="3108960" cy="640080"/>
          </a:xfrm>
          <a:prstGeom prst="rect">
            <a:avLst/>
          </a:prstGeom>
          <a:noFill/>
          <a:ln/>
        </p:spPr>
        <p:txBody>
          <a:bodyPr wrap="square" rtlCol="0" anchor="ctr"/>
          <a:lstStyle/>
          <a:p>
            <a:pPr algn="ctr" indent="0" marL="0">
              <a:buNone/>
            </a:pPr>
            <a:r>
              <a:rPr lang="en-US" sz="1450" b="1" dirty="0">
                <a:solidFill>
                  <a:srgbClr val="1E2761"/>
                </a:solidFill>
                <a:latin typeface="Cambria" pitchFamily="34" charset="0"/>
                <a:ea typeface="Cambria" pitchFamily="34" charset="-122"/>
                <a:cs typeface="Cambria" pitchFamily="34" charset="-120"/>
              </a:rPr>
              <a:t>Visualization</a:t>
            </a:r>
            <a:endParaRPr lang="en-US" sz="1450" dirty="0"/>
          </a:p>
        </p:txBody>
      </p:sp>
      <p:sp>
        <p:nvSpPr>
          <p:cNvPr id="18" name="Text 16"/>
          <p:cNvSpPr/>
          <p:nvPr/>
        </p:nvSpPr>
        <p:spPr>
          <a:xfrm>
            <a:off x="8229600" y="3566160"/>
            <a:ext cx="3017520" cy="1143000"/>
          </a:xfrm>
          <a:prstGeom prst="rect">
            <a:avLst/>
          </a:prstGeom>
          <a:noFill/>
          <a:ln/>
        </p:spPr>
        <p:txBody>
          <a:bodyPr wrap="square" rtlCol="0" anchor="t"/>
          <a:lstStyle/>
          <a:p>
            <a:pPr algn="ctr" indent="0" marL="0">
              <a:buNone/>
            </a:pPr>
            <a:r>
              <a:rPr lang="en-US" sz="1200" dirty="0">
                <a:solidFill>
                  <a:srgbClr val="4A4F5A"/>
                </a:solidFill>
                <a:latin typeface="Calibri" pitchFamily="34" charset="0"/>
                <a:ea typeface="Calibri" pitchFamily="34" charset="-122"/>
                <a:cs typeface="Calibri" pitchFamily="34" charset="-120"/>
              </a:rPr>
              <a:t>The standard way to "see" a high-dimensional dataset at all.</a:t>
            </a:r>
            <a:endParaRPr lang="en-US" sz="1200" dirty="0"/>
          </a:p>
        </p:txBody>
      </p:sp>
      <p:sp>
        <p:nvSpPr>
          <p:cNvPr id="19" name="Text 17"/>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20" name="Text 18"/>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9966960" y="274320"/>
            <a:ext cx="2743200" cy="2743200"/>
          </a:xfrm>
          <a:prstGeom prst="rect">
            <a:avLst/>
          </a:prstGeom>
          <a:noFill/>
          <a:ln/>
        </p:spPr>
        <p:txBody>
          <a:bodyPr wrap="square" rtlCol="0" anchor="ctr"/>
          <a:lstStyle/>
          <a:p>
            <a:pPr algn="ctr" indent="0" marL="0">
              <a:buNone/>
            </a:pPr>
            <a:r>
              <a:rPr lang="en-US" sz="13000" b="1" dirty="0">
                <a:solidFill>
                  <a:srgbClr val="FFFFFF">
                    <a:alpha val="8000"/>
                  </a:srgbClr>
                </a:solidFill>
                <a:latin typeface="Cambria" pitchFamily="34" charset="0"/>
                <a:ea typeface="Cambria" pitchFamily="34" charset="-122"/>
                <a:cs typeface="Cambria" pitchFamily="34" charset="-120"/>
              </a:rPr>
              <a:t>Σ</a:t>
            </a:r>
            <a:endParaRPr lang="en-US" sz="13000" dirty="0"/>
          </a:p>
        </p:txBody>
      </p:sp>
      <p:sp>
        <p:nvSpPr>
          <p:cNvPr id="3" name="Text 1"/>
          <p:cNvSpPr/>
          <p:nvPr/>
        </p:nvSpPr>
        <p:spPr>
          <a:xfrm>
            <a:off x="640080" y="365760"/>
            <a:ext cx="7315200" cy="365760"/>
          </a:xfrm>
          <a:prstGeom prst="rect">
            <a:avLst/>
          </a:prstGeom>
          <a:noFill/>
          <a:ln/>
        </p:spPr>
        <p:txBody>
          <a:bodyPr wrap="square" rtlCol="0" anchor="ctr"/>
          <a:lstStyle/>
          <a:p>
            <a:pPr indent="0" marL="0">
              <a:buNone/>
            </a:pPr>
            <a:r>
              <a:rPr lang="en-US" sz="1300" b="1" spc="200" kern="0" dirty="0">
                <a:solidFill>
                  <a:srgbClr val="E8871E"/>
                </a:solidFill>
                <a:latin typeface="Calibri" pitchFamily="34" charset="0"/>
                <a:ea typeface="Calibri" pitchFamily="34" charset="-122"/>
                <a:cs typeface="Calibri" pitchFamily="34" charset="-120"/>
              </a:rPr>
              <a:t>MODULE 3 — THE WHOLE STORY</a:t>
            </a:r>
            <a:endParaRPr lang="en-US" sz="1300" dirty="0"/>
          </a:p>
        </p:txBody>
      </p:sp>
      <p:sp>
        <p:nvSpPr>
          <p:cNvPr id="4" name="Text 2"/>
          <p:cNvSpPr/>
          <p:nvPr/>
        </p:nvSpPr>
        <p:spPr>
          <a:xfrm>
            <a:off x="640080" y="731520"/>
            <a:ext cx="10972800" cy="822960"/>
          </a:xfrm>
          <a:prstGeom prst="rect">
            <a:avLst/>
          </a:prstGeom>
          <a:noFill/>
          <a:ln/>
        </p:spPr>
        <p:txBody>
          <a:bodyPr wrap="square"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Every Matrix Hides Structure. SVD Finds It. PCA Uses It.</a:t>
            </a:r>
            <a:endParaRPr lang="en-US" sz="2500" dirty="0"/>
          </a:p>
        </p:txBody>
      </p:sp>
      <p:sp>
        <p:nvSpPr>
          <p:cNvPr id="5" name="Shape 3"/>
          <p:cNvSpPr/>
          <p:nvPr/>
        </p:nvSpPr>
        <p:spPr>
          <a:xfrm>
            <a:off x="640080" y="1828800"/>
            <a:ext cx="2514600" cy="1554480"/>
          </a:xfrm>
          <a:prstGeom prst="roundRect">
            <a:avLst>
              <a:gd name="adj" fmla="val 5882"/>
            </a:avLst>
          </a:prstGeom>
          <a:solidFill>
            <a:srgbClr val="26306E"/>
          </a:solidFill>
          <a:ln w="15875">
            <a:solidFill>
              <a:srgbClr val="8FA8E0"/>
            </a:solidFill>
            <a:prstDash val="solid"/>
          </a:ln>
        </p:spPr>
      </p:sp>
      <p:sp>
        <p:nvSpPr>
          <p:cNvPr id="6" name="Text 4"/>
          <p:cNvSpPr/>
          <p:nvPr/>
        </p:nvSpPr>
        <p:spPr>
          <a:xfrm>
            <a:off x="640080" y="1993392"/>
            <a:ext cx="2514600" cy="320040"/>
          </a:xfrm>
          <a:prstGeom prst="rect">
            <a:avLst/>
          </a:prstGeom>
          <a:noFill/>
          <a:ln/>
        </p:spPr>
        <p:txBody>
          <a:bodyPr wrap="square"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Session 1</a:t>
            </a:r>
            <a:endParaRPr lang="en-US" sz="1200" dirty="0"/>
          </a:p>
        </p:txBody>
      </p:sp>
      <p:sp>
        <p:nvSpPr>
          <p:cNvPr id="7" name="Text 5"/>
          <p:cNvSpPr/>
          <p:nvPr/>
        </p:nvSpPr>
        <p:spPr>
          <a:xfrm>
            <a:off x="731520" y="2377440"/>
            <a:ext cx="2331720" cy="914400"/>
          </a:xfrm>
          <a:prstGeom prst="rect">
            <a:avLst/>
          </a:prstGeom>
          <a:noFill/>
          <a:ln/>
        </p:spPr>
        <p:txBody>
          <a:bodyPr wrap="square"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Special directions</a:t>
            </a:r>
            <a:endParaRPr lang="en-US" sz="1450" dirty="0"/>
          </a:p>
          <a:p>
            <a:pPr algn="ctr" indent="0" marL="0">
              <a:buNone/>
            </a:pPr>
            <a:r>
              <a:rPr lang="en-US" sz="1450" b="1" dirty="0">
                <a:solidFill>
                  <a:srgbClr val="FFFFFF"/>
                </a:solidFill>
                <a:latin typeface="Cambria" pitchFamily="34" charset="0"/>
                <a:ea typeface="Cambria" pitchFamily="34" charset="-122"/>
                <a:cs typeface="Cambria" pitchFamily="34" charset="-120"/>
              </a:rPr>
              <a:t>exist</a:t>
            </a:r>
            <a:endParaRPr lang="en-US" sz="1450" dirty="0"/>
          </a:p>
        </p:txBody>
      </p:sp>
      <p:sp>
        <p:nvSpPr>
          <p:cNvPr id="8" name="Text 6"/>
          <p:cNvSpPr/>
          <p:nvPr/>
        </p:nvSpPr>
        <p:spPr>
          <a:xfrm>
            <a:off x="3154680" y="2331720"/>
            <a:ext cx="274320" cy="548640"/>
          </a:xfrm>
          <a:prstGeom prst="rect">
            <a:avLst/>
          </a:prstGeom>
          <a:noFill/>
          <a:ln/>
        </p:spPr>
        <p:txBody>
          <a:bodyPr wrap="square" rtlCol="0" anchor="ctr"/>
          <a:lstStyle/>
          <a:p>
            <a:pPr algn="ctr" indent="0" marL="0">
              <a:buNone/>
            </a:pPr>
            <a:r>
              <a:rPr lang="en-US" sz="2000" b="1" dirty="0">
                <a:solidFill>
                  <a:srgbClr val="8FA8E0"/>
                </a:solidFill>
                <a:latin typeface="Cambria" pitchFamily="34" charset="0"/>
                <a:ea typeface="Cambria" pitchFamily="34" charset="-122"/>
                <a:cs typeface="Cambria" pitchFamily="34" charset="-120"/>
              </a:rPr>
              <a:t>→</a:t>
            </a:r>
            <a:endParaRPr lang="en-US" sz="2000" dirty="0"/>
          </a:p>
        </p:txBody>
      </p:sp>
      <p:sp>
        <p:nvSpPr>
          <p:cNvPr id="9" name="Shape 7"/>
          <p:cNvSpPr/>
          <p:nvPr/>
        </p:nvSpPr>
        <p:spPr>
          <a:xfrm>
            <a:off x="3429000" y="1828800"/>
            <a:ext cx="2514600" cy="1554480"/>
          </a:xfrm>
          <a:prstGeom prst="roundRect">
            <a:avLst>
              <a:gd name="adj" fmla="val 5882"/>
            </a:avLst>
          </a:prstGeom>
          <a:solidFill>
            <a:srgbClr val="26306E"/>
          </a:solidFill>
          <a:ln w="15875">
            <a:solidFill>
              <a:srgbClr val="8FA8E0"/>
            </a:solidFill>
            <a:prstDash val="solid"/>
          </a:ln>
        </p:spPr>
      </p:sp>
      <p:sp>
        <p:nvSpPr>
          <p:cNvPr id="10" name="Text 8"/>
          <p:cNvSpPr/>
          <p:nvPr/>
        </p:nvSpPr>
        <p:spPr>
          <a:xfrm>
            <a:off x="3429000" y="1993392"/>
            <a:ext cx="2514600" cy="320040"/>
          </a:xfrm>
          <a:prstGeom prst="rect">
            <a:avLst/>
          </a:prstGeom>
          <a:noFill/>
          <a:ln/>
        </p:spPr>
        <p:txBody>
          <a:bodyPr wrap="square"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Session 2</a:t>
            </a:r>
            <a:endParaRPr lang="en-US" sz="1200" dirty="0"/>
          </a:p>
        </p:txBody>
      </p:sp>
      <p:sp>
        <p:nvSpPr>
          <p:cNvPr id="11" name="Text 9"/>
          <p:cNvSpPr/>
          <p:nvPr/>
        </p:nvSpPr>
        <p:spPr>
          <a:xfrm>
            <a:off x="3520440" y="2377440"/>
            <a:ext cx="2331720" cy="914400"/>
          </a:xfrm>
          <a:prstGeom prst="rect">
            <a:avLst/>
          </a:prstGeom>
          <a:noFill/>
          <a:ln/>
        </p:spPr>
        <p:txBody>
          <a:bodyPr wrap="square"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Every matrix</a:t>
            </a:r>
            <a:endParaRPr lang="en-US" sz="1450" dirty="0"/>
          </a:p>
          <a:p>
            <a:pPr algn="ctr" indent="0" marL="0">
              <a:buNone/>
            </a:pPr>
            <a:r>
              <a:rPr lang="en-US" sz="1450" b="1" dirty="0">
                <a:solidFill>
                  <a:srgbClr val="FFFFFF"/>
                </a:solidFill>
                <a:latin typeface="Cambria" pitchFamily="34" charset="0"/>
                <a:ea typeface="Cambria" pitchFamily="34" charset="-122"/>
                <a:cs typeface="Cambria" pitchFamily="34" charset="-120"/>
              </a:rPr>
              <a:t>has them</a:t>
            </a:r>
            <a:endParaRPr lang="en-US" sz="1450" dirty="0"/>
          </a:p>
        </p:txBody>
      </p:sp>
      <p:sp>
        <p:nvSpPr>
          <p:cNvPr id="12" name="Text 10"/>
          <p:cNvSpPr/>
          <p:nvPr/>
        </p:nvSpPr>
        <p:spPr>
          <a:xfrm>
            <a:off x="5943600" y="2331720"/>
            <a:ext cx="274320" cy="548640"/>
          </a:xfrm>
          <a:prstGeom prst="rect">
            <a:avLst/>
          </a:prstGeom>
          <a:noFill/>
          <a:ln/>
        </p:spPr>
        <p:txBody>
          <a:bodyPr wrap="square" rtlCol="0" anchor="ctr"/>
          <a:lstStyle/>
          <a:p>
            <a:pPr algn="ctr" indent="0" marL="0">
              <a:buNone/>
            </a:pPr>
            <a:r>
              <a:rPr lang="en-US" sz="2000" b="1" dirty="0">
                <a:solidFill>
                  <a:srgbClr val="8FA8E0"/>
                </a:solidFill>
                <a:latin typeface="Cambria" pitchFamily="34" charset="0"/>
                <a:ea typeface="Cambria" pitchFamily="34" charset="-122"/>
                <a:cs typeface="Cambria" pitchFamily="34" charset="-120"/>
              </a:rPr>
              <a:t>→</a:t>
            </a:r>
            <a:endParaRPr lang="en-US" sz="2000" dirty="0"/>
          </a:p>
        </p:txBody>
      </p:sp>
      <p:sp>
        <p:nvSpPr>
          <p:cNvPr id="13" name="Shape 11"/>
          <p:cNvSpPr/>
          <p:nvPr/>
        </p:nvSpPr>
        <p:spPr>
          <a:xfrm>
            <a:off x="6217920" y="1828800"/>
            <a:ext cx="2514600" cy="1554480"/>
          </a:xfrm>
          <a:prstGeom prst="roundRect">
            <a:avLst>
              <a:gd name="adj" fmla="val 5882"/>
            </a:avLst>
          </a:prstGeom>
          <a:solidFill>
            <a:srgbClr val="26306E"/>
          </a:solidFill>
          <a:ln w="15875">
            <a:solidFill>
              <a:srgbClr val="8FA8E0"/>
            </a:solidFill>
            <a:prstDash val="solid"/>
          </a:ln>
        </p:spPr>
      </p:sp>
      <p:sp>
        <p:nvSpPr>
          <p:cNvPr id="14" name="Text 12"/>
          <p:cNvSpPr/>
          <p:nvPr/>
        </p:nvSpPr>
        <p:spPr>
          <a:xfrm>
            <a:off x="6217920" y="1993392"/>
            <a:ext cx="2514600" cy="320040"/>
          </a:xfrm>
          <a:prstGeom prst="rect">
            <a:avLst/>
          </a:prstGeom>
          <a:noFill/>
          <a:ln/>
        </p:spPr>
        <p:txBody>
          <a:bodyPr wrap="square" rtlCol="0" anchor="ctr"/>
          <a:lstStyle/>
          <a:p>
            <a:pPr algn="ctr" indent="0" marL="0">
              <a:buNone/>
            </a:pPr>
            <a:r>
              <a:rPr lang="en-US" sz="1200" b="1" dirty="0">
                <a:solidFill>
                  <a:srgbClr val="E8871E"/>
                </a:solidFill>
                <a:latin typeface="Calibri" pitchFamily="34" charset="0"/>
                <a:ea typeface="Calibri" pitchFamily="34" charset="-122"/>
                <a:cs typeface="Calibri" pitchFamily="34" charset="-120"/>
              </a:rPr>
              <a:t>Session 3</a:t>
            </a:r>
            <a:endParaRPr lang="en-US" sz="1200" dirty="0"/>
          </a:p>
        </p:txBody>
      </p:sp>
      <p:sp>
        <p:nvSpPr>
          <p:cNvPr id="15" name="Text 13"/>
          <p:cNvSpPr/>
          <p:nvPr/>
        </p:nvSpPr>
        <p:spPr>
          <a:xfrm>
            <a:off x="6309360" y="2377440"/>
            <a:ext cx="2331720" cy="914400"/>
          </a:xfrm>
          <a:prstGeom prst="rect">
            <a:avLst/>
          </a:prstGeom>
          <a:noFill/>
          <a:ln/>
        </p:spPr>
        <p:txBody>
          <a:bodyPr wrap="square"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Best possible</a:t>
            </a:r>
            <a:endParaRPr lang="en-US" sz="1450" dirty="0"/>
          </a:p>
          <a:p>
            <a:pPr algn="ctr" indent="0" marL="0">
              <a:buNone/>
            </a:pPr>
            <a:r>
              <a:rPr lang="en-US" sz="1450" b="1" dirty="0">
                <a:solidFill>
                  <a:srgbClr val="FFFFFF"/>
                </a:solidFill>
                <a:latin typeface="Cambria" pitchFamily="34" charset="0"/>
                <a:ea typeface="Cambria" pitchFamily="34" charset="-122"/>
                <a:cs typeface="Cambria" pitchFamily="34" charset="-120"/>
              </a:rPr>
              <a:t>summary</a:t>
            </a:r>
            <a:endParaRPr lang="en-US" sz="1450" dirty="0"/>
          </a:p>
        </p:txBody>
      </p:sp>
      <p:sp>
        <p:nvSpPr>
          <p:cNvPr id="16" name="Text 14"/>
          <p:cNvSpPr/>
          <p:nvPr/>
        </p:nvSpPr>
        <p:spPr>
          <a:xfrm>
            <a:off x="8732520" y="2331720"/>
            <a:ext cx="274320" cy="548640"/>
          </a:xfrm>
          <a:prstGeom prst="rect">
            <a:avLst/>
          </a:prstGeom>
          <a:noFill/>
          <a:ln/>
        </p:spPr>
        <p:txBody>
          <a:bodyPr wrap="square" rtlCol="0" anchor="ctr"/>
          <a:lstStyle/>
          <a:p>
            <a:pPr algn="ctr" indent="0" marL="0">
              <a:buNone/>
            </a:pPr>
            <a:r>
              <a:rPr lang="en-US" sz="2000" b="1" dirty="0">
                <a:solidFill>
                  <a:srgbClr val="8FA8E0"/>
                </a:solidFill>
                <a:latin typeface="Cambria" pitchFamily="34" charset="0"/>
                <a:ea typeface="Cambria" pitchFamily="34" charset="-122"/>
                <a:cs typeface="Cambria" pitchFamily="34" charset="-120"/>
              </a:rPr>
              <a:t>→</a:t>
            </a:r>
            <a:endParaRPr lang="en-US" sz="2000" dirty="0"/>
          </a:p>
        </p:txBody>
      </p:sp>
      <p:sp>
        <p:nvSpPr>
          <p:cNvPr id="17" name="Shape 15"/>
          <p:cNvSpPr/>
          <p:nvPr/>
        </p:nvSpPr>
        <p:spPr>
          <a:xfrm>
            <a:off x="9006840" y="1828800"/>
            <a:ext cx="2514600" cy="1554480"/>
          </a:xfrm>
          <a:prstGeom prst="roundRect">
            <a:avLst>
              <a:gd name="adj" fmla="val 5882"/>
            </a:avLst>
          </a:prstGeom>
          <a:solidFill>
            <a:srgbClr val="E8871E"/>
          </a:solidFill>
          <a:ln w="15875">
            <a:solidFill>
              <a:srgbClr val="E8871E"/>
            </a:solidFill>
            <a:prstDash val="solid"/>
          </a:ln>
        </p:spPr>
      </p:sp>
      <p:sp>
        <p:nvSpPr>
          <p:cNvPr id="18" name="Text 16"/>
          <p:cNvSpPr/>
          <p:nvPr/>
        </p:nvSpPr>
        <p:spPr>
          <a:xfrm>
            <a:off x="9006840" y="1993392"/>
            <a:ext cx="2514600" cy="320040"/>
          </a:xfrm>
          <a:prstGeom prst="rect">
            <a:avLst/>
          </a:prstGeom>
          <a:noFill/>
          <a:ln/>
        </p:spPr>
        <p:txBody>
          <a:bodyPr wrap="square"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Session 4</a:t>
            </a:r>
            <a:endParaRPr lang="en-US" sz="1200" dirty="0"/>
          </a:p>
        </p:txBody>
      </p:sp>
      <p:sp>
        <p:nvSpPr>
          <p:cNvPr id="19" name="Text 17"/>
          <p:cNvSpPr/>
          <p:nvPr/>
        </p:nvSpPr>
        <p:spPr>
          <a:xfrm>
            <a:off x="9098280" y="2377440"/>
            <a:ext cx="2331720" cy="914400"/>
          </a:xfrm>
          <a:prstGeom prst="rect">
            <a:avLst/>
          </a:prstGeom>
          <a:noFill/>
          <a:ln/>
        </p:spPr>
        <p:txBody>
          <a:bodyPr wrap="square" rtlCol="0" anchor="t"/>
          <a:lstStyle/>
          <a:p>
            <a:pPr algn="ctr" indent="0" marL="0">
              <a:buNone/>
            </a:pPr>
            <a:r>
              <a:rPr lang="en-US" sz="1450" b="1" dirty="0">
                <a:solidFill>
                  <a:srgbClr val="1E2761"/>
                </a:solidFill>
                <a:latin typeface="Cambria" pitchFamily="34" charset="0"/>
                <a:ea typeface="Cambria" pitchFamily="34" charset="-122"/>
                <a:cs typeface="Cambria" pitchFamily="34" charset="-120"/>
              </a:rPr>
              <a:t>Here's how</a:t>
            </a:r>
            <a:endParaRPr lang="en-US" sz="1450" dirty="0"/>
          </a:p>
          <a:p>
            <a:pPr algn="ctr" indent="0" marL="0">
              <a:buNone/>
            </a:pPr>
            <a:r>
              <a:rPr lang="en-US" sz="1450" b="1" dirty="0">
                <a:solidFill>
                  <a:srgbClr val="1E2761"/>
                </a:solidFill>
                <a:latin typeface="Cambria" pitchFamily="34" charset="0"/>
                <a:ea typeface="Cambria" pitchFamily="34" charset="-122"/>
                <a:cs typeface="Cambria" pitchFamily="34" charset="-120"/>
              </a:rPr>
              <a:t>it's used</a:t>
            </a:r>
            <a:endParaRPr lang="en-US" sz="1450" dirty="0"/>
          </a:p>
        </p:txBody>
      </p:sp>
      <p:sp>
        <p:nvSpPr>
          <p:cNvPr id="20" name="Text 18"/>
          <p:cNvSpPr/>
          <p:nvPr/>
        </p:nvSpPr>
        <p:spPr>
          <a:xfrm>
            <a:off x="640080" y="3703320"/>
            <a:ext cx="10972800" cy="548640"/>
          </a:xfrm>
          <a:prstGeom prst="rect">
            <a:avLst/>
          </a:prstGeom>
          <a:noFill/>
          <a:ln/>
        </p:spPr>
        <p:txBody>
          <a:bodyPr wrap="square" rtlCol="0" anchor="ctr"/>
          <a:lstStyle/>
          <a:p>
            <a:pPr algn="ctr" indent="0" marL="0">
              <a:buNone/>
            </a:pPr>
            <a:r>
              <a:rPr lang="en-US" sz="2000" b="1" i="1" dirty="0">
                <a:solidFill>
                  <a:srgbClr val="E8871E"/>
                </a:solidFill>
                <a:latin typeface="Cambria" pitchFamily="34" charset="0"/>
                <a:ea typeface="Cambria" pitchFamily="34" charset="-122"/>
                <a:cs typeface="Cambria" pitchFamily="34" charset="-120"/>
              </a:rPr>
              <a:t>Find the structure. Keep the best part. Use it.</a:t>
            </a:r>
            <a:endParaRPr lang="en-US" sz="2000" dirty="0"/>
          </a:p>
        </p:txBody>
      </p:sp>
      <p:sp>
        <p:nvSpPr>
          <p:cNvPr id="21" name="Text 19"/>
          <p:cNvSpPr/>
          <p:nvPr/>
        </p:nvSpPr>
        <p:spPr>
          <a:xfrm>
            <a:off x="822960" y="4480560"/>
            <a:ext cx="10515600" cy="1005840"/>
          </a:xfrm>
          <a:prstGeom prst="rect">
            <a:avLst/>
          </a:prstGeom>
          <a:noFill/>
          <a:ln/>
        </p:spPr>
        <p:txBody>
          <a:bodyPr wrap="square" rtlCol="0" anchor="t"/>
          <a:lstStyle/>
          <a:p>
            <a:pPr indent="0" marL="0">
              <a:buNone/>
            </a:pPr>
            <a:r>
              <a:rPr lang="en-US" sz="1600" i="1" dirty="0">
                <a:solidFill>
                  <a:srgbClr val="CADCFC"/>
                </a:solidFill>
                <a:latin typeface="Calibri" pitchFamily="34" charset="0"/>
                <a:ea typeface="Calibri" pitchFamily="34" charset="-122"/>
                <a:cs typeface="Calibri" pitchFamily="34" charset="-120"/>
              </a:rPr>
              <a:t>Next module: back to systems and projections — Ax = b and least squares — the direct machinery for fitting a model to data. It reuses everything we just built.</a:t>
            </a:r>
            <a:endParaRPr lang="en-US" sz="1600" dirty="0"/>
          </a:p>
        </p:txBody>
      </p:sp>
      <p:sp>
        <p:nvSpPr>
          <p:cNvPr id="22" name="Text 20"/>
          <p:cNvSpPr/>
          <p:nvPr/>
        </p:nvSpPr>
        <p:spPr>
          <a:xfrm>
            <a:off x="822960" y="6035040"/>
            <a:ext cx="54864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Reading: MML Ch. 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66928"/>
            <a:ext cx="10881360" cy="73152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PCA via the Covariance Matrix (the Other Route)</a:t>
            </a:r>
            <a:endParaRPr lang="en-US" sz="2700" dirty="0"/>
          </a:p>
        </p:txBody>
      </p:sp>
      <p:pic>
        <p:nvPicPr>
          <p:cNvPr id="4" name="Image 0" descr="assets/covariance_pca.png">    </p:cNvPr>
          <p:cNvPicPr>
            <a:picLocks noChangeAspect="1"/>
          </p:cNvPicPr>
          <p:nvPr/>
        </p:nvPicPr>
        <p:blipFill>
          <a:blip r:embed="rId1"/>
          <a:stretch>
            <a:fillRect/>
          </a:stretch>
        </p:blipFill>
        <p:spPr>
          <a:xfrm>
            <a:off x="1188720" y="1645920"/>
            <a:ext cx="9784080" cy="2926080"/>
          </a:xfrm>
          <a:prstGeom prst="rect">
            <a:avLst/>
          </a:prstGeom>
        </p:spPr>
      </p:pic>
      <p:sp>
        <p:nvSpPr>
          <p:cNvPr id="5" name="Text 2"/>
          <p:cNvSpPr/>
          <p:nvPr/>
        </p:nvSpPr>
        <p:spPr>
          <a:xfrm>
            <a:off x="822960" y="4846320"/>
            <a:ext cx="10515600" cy="914400"/>
          </a:xfrm>
          <a:prstGeom prst="rect">
            <a:avLst/>
          </a:prstGeom>
          <a:noFill/>
          <a:ln/>
        </p:spPr>
        <p:txBody>
          <a:bodyPr wrap="square" rtlCol="0" anchor="ctr"/>
          <a:lstStyle/>
          <a:p>
            <a:pPr algn="ctr" indent="0" marL="0">
              <a:buNone/>
            </a:pPr>
            <a:r>
              <a:rPr lang="en-US" sz="1450" i="1" dirty="0">
                <a:solidFill>
                  <a:srgbClr val="4A4F5A"/>
                </a:solidFill>
                <a:latin typeface="Calibri" pitchFamily="34" charset="0"/>
                <a:ea typeface="Calibri" pitchFamily="34" charset="-122"/>
                <a:cs typeface="Calibri" pitchFamily="34" charset="-120"/>
              </a:rPr>
              <a:t>Same answer as the SVD route — this is the classical way PCA is often taught first. Useful to know it's not a different method, just a different (less numerically stable) way to compute the same result.</a:t>
            </a:r>
            <a:endParaRPr lang="en-US" sz="1450" dirty="0"/>
          </a:p>
        </p:txBody>
      </p:sp>
      <p:sp>
        <p:nvSpPr>
          <p:cNvPr id="6" name="Text 3"/>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7" name="Text 4"/>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66928"/>
            <a:ext cx="10881360" cy="73152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Worked Example: PCA by Hand</a:t>
            </a:r>
            <a:endParaRPr lang="en-US" sz="2700" dirty="0"/>
          </a:p>
        </p:txBody>
      </p:sp>
      <p:pic>
        <p:nvPicPr>
          <p:cNvPr id="4" name="Image 0" descr="assets/worked_pca_example.png">    </p:cNvPr>
          <p:cNvPicPr>
            <a:picLocks noChangeAspect="1"/>
          </p:cNvPicPr>
          <p:nvPr/>
        </p:nvPicPr>
        <p:blipFill>
          <a:blip r:embed="rId1"/>
          <a:stretch>
            <a:fillRect/>
          </a:stretch>
        </p:blipFill>
        <p:spPr>
          <a:xfrm>
            <a:off x="2377440" y="1371600"/>
            <a:ext cx="7406640" cy="4846320"/>
          </a:xfrm>
          <a:prstGeom prst="rect">
            <a:avLst/>
          </a:prstGeom>
        </p:spPr>
      </p:pic>
      <p:sp>
        <p:nvSpPr>
          <p:cNvPr id="5" name="Text 2"/>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6" name="Text 3"/>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548640" y="274320"/>
            <a:ext cx="3657600" cy="320040"/>
          </a:xfrm>
          <a:prstGeom prst="rect">
            <a:avLst/>
          </a:prstGeom>
          <a:noFill/>
          <a:ln/>
        </p:spPr>
        <p:txBody>
          <a:bodyPr wrap="square" rtlCol="0" anchor="ctr"/>
          <a:lstStyle/>
          <a:p>
            <a:pPr indent="0" marL="0">
              <a:buNone/>
            </a:pPr>
            <a:r>
              <a:rPr lang="en-US" sz="1100" b="1" spc="200" kern="0" dirty="0">
                <a:solidFill>
                  <a:srgbClr val="E8871E"/>
                </a:solidFill>
                <a:latin typeface="Calibri" pitchFamily="34" charset="0"/>
                <a:ea typeface="Calibri" pitchFamily="34" charset="-122"/>
                <a:cs typeface="Calibri" pitchFamily="34" charset="-120"/>
              </a:rPr>
              <a:t>BACKUP</a:t>
            </a:r>
            <a:endParaRPr lang="en-US" sz="1100" dirty="0"/>
          </a:p>
        </p:txBody>
      </p:sp>
      <p:sp>
        <p:nvSpPr>
          <p:cNvPr id="3" name="Text 1"/>
          <p:cNvSpPr/>
          <p:nvPr/>
        </p:nvSpPr>
        <p:spPr>
          <a:xfrm>
            <a:off x="548640" y="566928"/>
            <a:ext cx="10881360" cy="731520"/>
          </a:xfrm>
          <a:prstGeom prst="rect">
            <a:avLst/>
          </a:prstGeom>
          <a:noFill/>
          <a:ln/>
        </p:spPr>
        <p:txBody>
          <a:bodyPr wrap="square"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When PCA Isn't the Right Tool</a:t>
            </a:r>
            <a:endParaRPr lang="en-US" sz="2700" dirty="0"/>
          </a:p>
        </p:txBody>
      </p:sp>
      <p:sp>
        <p:nvSpPr>
          <p:cNvPr id="4" name="Shape 2"/>
          <p:cNvSpPr/>
          <p:nvPr/>
        </p:nvSpPr>
        <p:spPr>
          <a:xfrm>
            <a:off x="640080" y="1783080"/>
            <a:ext cx="3429000" cy="3291840"/>
          </a:xfrm>
          <a:prstGeom prst="roundRect">
            <a:avLst>
              <a:gd name="adj" fmla="val 2222"/>
            </a:avLst>
          </a:prstGeom>
          <a:solidFill>
            <a:srgbClr val="F4F6FB"/>
          </a:solidFill>
          <a:ln w="19050">
            <a:solidFill>
              <a:srgbClr val="E8871E"/>
            </a:solidFill>
            <a:prstDash val="solid"/>
          </a:ln>
        </p:spPr>
      </p:sp>
      <p:sp>
        <p:nvSpPr>
          <p:cNvPr id="5" name="Text 3"/>
          <p:cNvSpPr/>
          <p:nvPr/>
        </p:nvSpPr>
        <p:spPr>
          <a:xfrm>
            <a:off x="822960" y="1965960"/>
            <a:ext cx="3063240" cy="6400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Sensitive to outliers</a:t>
            </a:r>
            <a:endParaRPr lang="en-US" sz="1500" dirty="0"/>
          </a:p>
        </p:txBody>
      </p:sp>
      <p:sp>
        <p:nvSpPr>
          <p:cNvPr id="6" name="Text 4"/>
          <p:cNvSpPr/>
          <p:nvPr/>
        </p:nvSpPr>
        <p:spPr>
          <a:xfrm>
            <a:off x="822960" y="2697480"/>
            <a:ext cx="3063240" cy="2194560"/>
          </a:xfrm>
          <a:prstGeom prst="rect">
            <a:avLst/>
          </a:prstGeom>
          <a:noFill/>
          <a:ln/>
        </p:spPr>
        <p:txBody>
          <a:bodyPr wrap="square" rtlCol="0" anchor="t"/>
          <a:lstStyle/>
          <a:p>
            <a:pPr indent="0" marL="0">
              <a:buNone/>
            </a:pPr>
            <a:r>
              <a:rPr lang="en-US" sz="1300" dirty="0">
                <a:solidFill>
                  <a:srgbClr val="4A4F5A"/>
                </a:solidFill>
                <a:latin typeface="Calibri" pitchFamily="34" charset="0"/>
                <a:ea typeface="Calibri" pitchFamily="34" charset="-122"/>
                <a:cs typeface="Calibri" pitchFamily="34" charset="-120"/>
              </a:rPr>
              <a:t>A single extreme point can dominate a principal component.</a:t>
            </a:r>
            <a:endParaRPr lang="en-US" sz="1300" dirty="0"/>
          </a:p>
        </p:txBody>
      </p:sp>
      <p:sp>
        <p:nvSpPr>
          <p:cNvPr id="7" name="Shape 5"/>
          <p:cNvSpPr/>
          <p:nvPr/>
        </p:nvSpPr>
        <p:spPr>
          <a:xfrm>
            <a:off x="4343400" y="1783080"/>
            <a:ext cx="3429000" cy="3291840"/>
          </a:xfrm>
          <a:prstGeom prst="roundRect">
            <a:avLst>
              <a:gd name="adj" fmla="val 2222"/>
            </a:avLst>
          </a:prstGeom>
          <a:solidFill>
            <a:srgbClr val="F4F6FB"/>
          </a:solidFill>
          <a:ln w="19050">
            <a:solidFill>
              <a:srgbClr val="E8871E"/>
            </a:solidFill>
            <a:prstDash val="solid"/>
          </a:ln>
        </p:spPr>
      </p:sp>
      <p:sp>
        <p:nvSpPr>
          <p:cNvPr id="8" name="Text 6"/>
          <p:cNvSpPr/>
          <p:nvPr/>
        </p:nvSpPr>
        <p:spPr>
          <a:xfrm>
            <a:off x="4526280" y="1965960"/>
            <a:ext cx="3063240" cy="6400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Assumes linear relationships</a:t>
            </a:r>
            <a:endParaRPr lang="en-US" sz="1500" dirty="0"/>
          </a:p>
        </p:txBody>
      </p:sp>
      <p:sp>
        <p:nvSpPr>
          <p:cNvPr id="9" name="Text 7"/>
          <p:cNvSpPr/>
          <p:nvPr/>
        </p:nvSpPr>
        <p:spPr>
          <a:xfrm>
            <a:off x="4526280" y="2697480"/>
            <a:ext cx="3063240" cy="2194560"/>
          </a:xfrm>
          <a:prstGeom prst="rect">
            <a:avLst/>
          </a:prstGeom>
          <a:noFill/>
          <a:ln/>
        </p:spPr>
        <p:txBody>
          <a:bodyPr wrap="square" rtlCol="0" anchor="t"/>
          <a:lstStyle/>
          <a:p>
            <a:pPr indent="0" marL="0">
              <a:buNone/>
            </a:pPr>
            <a:r>
              <a:rPr lang="en-US" sz="1300" dirty="0">
                <a:solidFill>
                  <a:srgbClr val="4A4F5A"/>
                </a:solidFill>
                <a:latin typeface="Calibri" pitchFamily="34" charset="0"/>
                <a:ea typeface="Calibri" pitchFamily="34" charset="-122"/>
                <a:cs typeface="Calibri" pitchFamily="34" charset="-120"/>
              </a:rPr>
              <a:t>Genuinely nonlinear structure needs something else (t-SNE, UMAP).</a:t>
            </a:r>
            <a:endParaRPr lang="en-US" sz="1300" dirty="0"/>
          </a:p>
        </p:txBody>
      </p:sp>
      <p:sp>
        <p:nvSpPr>
          <p:cNvPr id="10" name="Shape 8"/>
          <p:cNvSpPr/>
          <p:nvPr/>
        </p:nvSpPr>
        <p:spPr>
          <a:xfrm>
            <a:off x="8046720" y="1783080"/>
            <a:ext cx="3429000" cy="3291840"/>
          </a:xfrm>
          <a:prstGeom prst="roundRect">
            <a:avLst>
              <a:gd name="adj" fmla="val 2222"/>
            </a:avLst>
          </a:prstGeom>
          <a:solidFill>
            <a:srgbClr val="F4F6FB"/>
          </a:solidFill>
          <a:ln w="19050">
            <a:solidFill>
              <a:srgbClr val="E8871E"/>
            </a:solidFill>
            <a:prstDash val="solid"/>
          </a:ln>
        </p:spPr>
      </p:sp>
      <p:sp>
        <p:nvSpPr>
          <p:cNvPr id="11" name="Text 9"/>
          <p:cNvSpPr/>
          <p:nvPr/>
        </p:nvSpPr>
        <p:spPr>
          <a:xfrm>
            <a:off x="8229600" y="1965960"/>
            <a:ext cx="3063240" cy="640080"/>
          </a:xfrm>
          <a:prstGeom prst="rect">
            <a:avLst/>
          </a:prstGeom>
          <a:noFill/>
          <a:ln/>
        </p:spPr>
        <p:txBody>
          <a:bodyPr wrap="square" rtlCol="0" anchor="ctr"/>
          <a:lstStyle/>
          <a:p>
            <a:pPr indent="0" marL="0">
              <a:buNone/>
            </a:pPr>
            <a:r>
              <a:rPr lang="en-US" sz="1500" b="1" dirty="0">
                <a:solidFill>
                  <a:srgbClr val="1E2761"/>
                </a:solidFill>
                <a:latin typeface="Cambria" pitchFamily="34" charset="0"/>
                <a:ea typeface="Cambria" pitchFamily="34" charset="-122"/>
                <a:cs typeface="Cambria" pitchFamily="34" charset="-120"/>
              </a:rPr>
              <a:t>Requires numeric features</a:t>
            </a:r>
            <a:endParaRPr lang="en-US" sz="1500" dirty="0"/>
          </a:p>
        </p:txBody>
      </p:sp>
      <p:sp>
        <p:nvSpPr>
          <p:cNvPr id="12" name="Text 10"/>
          <p:cNvSpPr/>
          <p:nvPr/>
        </p:nvSpPr>
        <p:spPr>
          <a:xfrm>
            <a:off x="8229600" y="2697480"/>
            <a:ext cx="3063240" cy="2194560"/>
          </a:xfrm>
          <a:prstGeom prst="rect">
            <a:avLst/>
          </a:prstGeom>
          <a:noFill/>
          <a:ln/>
        </p:spPr>
        <p:txBody>
          <a:bodyPr wrap="square" rtlCol="0" anchor="t"/>
          <a:lstStyle/>
          <a:p>
            <a:pPr indent="0" marL="0">
              <a:buNone/>
            </a:pPr>
            <a:r>
              <a:rPr lang="en-US" sz="1300" dirty="0">
                <a:solidFill>
                  <a:srgbClr val="4A4F5A"/>
                </a:solidFill>
                <a:latin typeface="Calibri" pitchFamily="34" charset="0"/>
                <a:ea typeface="Calibri" pitchFamily="34" charset="-122"/>
                <a:cs typeface="Calibri" pitchFamily="34" charset="-120"/>
              </a:rPr>
              <a:t>Categorical data needs encoding first — naive one-hot encoding interacts awkwardly with PCA's variance-based logic.</a:t>
            </a:r>
            <a:endParaRPr lang="en-US" sz="1300" dirty="0"/>
          </a:p>
        </p:txBody>
      </p:sp>
      <p:sp>
        <p:nvSpPr>
          <p:cNvPr id="13" name="Text 11"/>
          <p:cNvSpPr/>
          <p:nvPr/>
        </p:nvSpPr>
        <p:spPr>
          <a:xfrm>
            <a:off x="548640" y="6537960"/>
            <a:ext cx="8229600" cy="274320"/>
          </a:xfrm>
          <a:prstGeom prst="rect">
            <a:avLst/>
          </a:prstGeom>
          <a:noFill/>
          <a:ln/>
        </p:spPr>
        <p:txBody>
          <a:bodyPr wrap="square" rtlCol="0" anchor="ctr"/>
          <a:lstStyle/>
          <a:p>
            <a:pPr indent="0" marL="0">
              <a:buNone/>
            </a:pPr>
            <a:r>
              <a:rPr lang="en-US" sz="900" dirty="0">
                <a:solidFill>
                  <a:srgbClr val="9AA0AC"/>
                </a:solidFill>
                <a:latin typeface="Calibri" pitchFamily="34" charset="0"/>
                <a:ea typeface="Calibri" pitchFamily="34" charset="-122"/>
                <a:cs typeface="Calibri" pitchFamily="34" charset="-120"/>
              </a:rPr>
              <a:t>Module 3 · Session 4 — PCA: SVD in Action</a:t>
            </a:r>
            <a:endParaRPr lang="en-US" sz="900" dirty="0"/>
          </a:p>
        </p:txBody>
      </p:sp>
      <p:sp>
        <p:nvSpPr>
          <p:cNvPr id="14" name="Text 1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9AA0A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Session 4</dc:title>
  <dc:subject/>
  <dc:creator>Mohsin Raza</dc:creator>
  <cp:lastModifiedBy>Mohsin Raza</cp:lastModifiedBy>
  <cp:revision>1</cp:revision>
  <dcterms:created xsi:type="dcterms:W3CDTF">2026-09-16T12:38:00Z</dcterms:created>
  <dcterms:modified xsi:type="dcterms:W3CDTF">2026-09-16T12:38:00Z</dcterms:modified>
  <dc:description/>
  <cp:keywords/>
</cp:coreProperties>
</file>