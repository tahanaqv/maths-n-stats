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961120" y="-731520"/>
            <a:ext cx="27432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0" dirty="0">
                <a:solidFill>
                  <a:srgbClr val="2A3A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∇</a:t>
            </a:r>
            <a:endParaRPr lang="en-US" sz="26000" dirty="0"/>
          </a:p>
        </p:txBody>
      </p:sp>
      <p:sp>
        <p:nvSpPr>
          <p:cNvPr id="3" name="Text 1"/>
          <p:cNvSpPr/>
          <p:nvPr/>
        </p:nvSpPr>
        <p:spPr>
          <a:xfrm>
            <a:off x="731520" y="228600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Mathematical Foundations</a:t>
            </a:r>
            <a:endParaRPr lang="en-US" sz="5000" dirty="0"/>
          </a:p>
        </p:txBody>
      </p:sp>
      <p:sp>
        <p:nvSpPr>
          <p:cNvPr id="4" name="Text 2"/>
          <p:cNvSpPr/>
          <p:nvPr/>
        </p:nvSpPr>
        <p:spPr>
          <a:xfrm>
            <a:off x="731520" y="333756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Data Science &amp; Computational Intelligence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411480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Mohsin Raza   ·   Fall 2026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241280" y="-914400"/>
            <a:ext cx="27432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0" dirty="0">
                <a:solidFill>
                  <a:srgbClr val="EEF2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Σ</a:t>
            </a:r>
            <a:endParaRPr lang="en-US" sz="140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Today's Agenda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417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234440" y="137160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7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Welcome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144000" y="13716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min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1984248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9842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234440" y="1938528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7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Logistics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9144000" y="193852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min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40080" y="2551176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551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234440" y="2505456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7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Math Matters — Three Hooks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9144000" y="2505456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40080" y="3118104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1181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234440" y="3072384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7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Problem Types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9144000" y="3072384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min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40080" y="3685032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36850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234440" y="3639312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7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Notation Reference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9144000" y="363931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min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40080" y="425196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4251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234440" y="42062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7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Semester Roadmap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9144000" y="42062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640080" y="4818888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9" name="Text 27"/>
          <p:cNvSpPr/>
          <p:nvPr/>
        </p:nvSpPr>
        <p:spPr>
          <a:xfrm>
            <a:off x="640080" y="48188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234440" y="4773168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7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9144000" y="477316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min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640080" y="5385816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3" name="Text 31"/>
          <p:cNvSpPr/>
          <p:nvPr/>
        </p:nvSpPr>
        <p:spPr>
          <a:xfrm>
            <a:off x="640080" y="53858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1234440" y="5340096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7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 &amp; Q&amp;A</a:t>
            </a:r>
            <a:endParaRPr lang="en-US" sz="1700" dirty="0"/>
          </a:p>
        </p:txBody>
      </p:sp>
      <p:sp>
        <p:nvSpPr>
          <p:cNvPr id="35" name="Text 33"/>
          <p:cNvSpPr/>
          <p:nvPr/>
        </p:nvSpPr>
        <p:spPr>
          <a:xfrm>
            <a:off x="9144000" y="5340096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min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This Course Runs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502920" cy="502920"/>
          </a:xfrm>
          <a:prstGeom prst="ellipse">
            <a:avLst/>
          </a:prstGeom>
          <a:solidFill>
            <a:srgbClr val="EEF2FB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E2761"/>
                </a:solidFill>
              </a:rPr>
              <a:t>✦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371600" y="15087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7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Lab Sessions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371600" y="1920240"/>
            <a:ext cx="9418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Classroom is lecture and discussion — no in-class hands-on computing required.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2788920"/>
            <a:ext cx="502920" cy="502920"/>
          </a:xfrm>
          <a:prstGeom prst="ellipse">
            <a:avLst/>
          </a:prstGeom>
          <a:solidFill>
            <a:srgbClr val="EEF2FB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788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E2761"/>
                </a:solidFill>
              </a:rPr>
              <a:t>✦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371600" y="274320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7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Self-Paced Colab Notebooks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1371600" y="3154680"/>
            <a:ext cx="9418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notebooks shared each module via link/QR code. Free, no install, do them whenever suits you.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4023360"/>
            <a:ext cx="502920" cy="502920"/>
          </a:xfrm>
          <a:prstGeom prst="ellipse">
            <a:avLst/>
          </a:prstGeom>
          <a:solidFill>
            <a:srgbClr val="EEF2FB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4023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E2761"/>
                </a:solidFill>
              </a:rPr>
              <a:t>✦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371600" y="39776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7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 TA Support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1371600" y="4389120"/>
            <a:ext cx="9418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peer TA monitors an async forum/chat for questions on notebooks and coursework.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557784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EEF2FB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557784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includes quizzes, assignments, a project, two sessional exams, and a final. Exact weighting is being finalized with the department this week.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Textbooks — All Free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EEF2FB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160020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Mathematics for Machine Learning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77240" y="210312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7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Deisenroth, Faisal, Ong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77240" y="246888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mml-book.com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297680" y="141732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EEF2FB"/>
          </a:solidFill>
          <a:ln/>
        </p:spPr>
      </p:sp>
      <p:sp>
        <p:nvSpPr>
          <p:cNvPr id="8" name="Text 6"/>
          <p:cNvSpPr/>
          <p:nvPr/>
        </p:nvSpPr>
        <p:spPr>
          <a:xfrm>
            <a:off x="4526280" y="160020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Elements of Statistical Learning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26280" y="210312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7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Hastie, Tibshirani, Friedman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26280" y="246888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PDF (Stanford)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141732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EEF2FB"/>
          </a:solidFill>
          <a:ln/>
        </p:spPr>
      </p:sp>
      <p:sp>
        <p:nvSpPr>
          <p:cNvPr id="12" name="Text 10"/>
          <p:cNvSpPr/>
          <p:nvPr/>
        </p:nvSpPr>
        <p:spPr>
          <a:xfrm>
            <a:off x="8275320" y="160020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Learning: Foundations and Concepts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275320" y="210312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7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Bishop, H. Bishop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275320" y="246888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bishopbook.com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365760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EEF2FB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84048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DSP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77240" y="434340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7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Allen B. Downey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77240" y="470916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greenteapress.com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297680" y="365760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EEF2FB"/>
          </a:solidFill>
          <a:ln/>
        </p:spPr>
      </p:sp>
      <p:sp>
        <p:nvSpPr>
          <p:cNvPr id="20" name="Text 18"/>
          <p:cNvSpPr/>
          <p:nvPr/>
        </p:nvSpPr>
        <p:spPr>
          <a:xfrm>
            <a:off x="4526280" y="384048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 to Applied Linear Algebra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526280" y="434340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7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Boyd, Vandenberghe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26280" y="470916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web.stanford.edu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Does Data Have Structure?</a:t>
            </a:r>
            <a:endParaRPr lang="en-US" sz="3000" dirty="0"/>
          </a:p>
        </p:txBody>
      </p:sp>
      <p:pic>
        <p:nvPicPr>
          <p:cNvPr id="3" name="Image 0" descr="svd_dem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234440"/>
            <a:ext cx="10515600" cy="3346704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2194560" y="4800600"/>
            <a:ext cx="7772400" cy="685800"/>
          </a:xfrm>
          <a:prstGeom prst="roundRect">
            <a:avLst>
              <a:gd name="adj" fmla="val 10667"/>
            </a:avLst>
          </a:prstGeom>
          <a:solidFill>
            <a:srgbClr val="1E2761"/>
          </a:solidFill>
          <a:ln/>
        </p:spPr>
      </p:sp>
      <p:sp>
        <p:nvSpPr>
          <p:cNvPr id="5" name="Text 2"/>
          <p:cNvSpPr/>
          <p:nvPr/>
        </p:nvSpPr>
        <p:spPr>
          <a:xfrm>
            <a:off x="2194560" y="480060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768 dimensions</a:t>
            </a:r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recognizable in just </a:t>
            </a:r>
            <a:pPr algn="ctr" indent="0" marL="0">
              <a:buNone/>
            </a:pPr>
            <a:r>
              <a:rPr lang="en-US" sz="1600" b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components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 You Trust Your Intuition?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22960" y="12344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7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disease affects 1% of a population. A test for it is 99% accurate. You test positive. What's the chance you actually have the disease?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280160" y="2651760"/>
            <a:ext cx="3291840" cy="2103120"/>
          </a:xfrm>
          <a:prstGeom prst="roundRect">
            <a:avLst>
              <a:gd name="adj" fmla="val 4348"/>
            </a:avLst>
          </a:prstGeom>
          <a:solidFill>
            <a:srgbClr val="EEF2FB"/>
          </a:solidFill>
          <a:ln/>
        </p:spPr>
      </p:sp>
      <p:sp>
        <p:nvSpPr>
          <p:cNvPr id="5" name="Text 3"/>
          <p:cNvSpPr/>
          <p:nvPr/>
        </p:nvSpPr>
        <p:spPr>
          <a:xfrm>
            <a:off x="1280160" y="292608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1%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1280160" y="40233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 prevalence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937760" y="2651760"/>
            <a:ext cx="3291840" cy="2103120"/>
          </a:xfrm>
          <a:prstGeom prst="roundRect">
            <a:avLst>
              <a:gd name="adj" fmla="val 4348"/>
            </a:avLst>
          </a:prstGeom>
          <a:solidFill>
            <a:srgbClr val="EEF2FB"/>
          </a:solidFill>
          <a:ln/>
        </p:spPr>
      </p:sp>
      <p:sp>
        <p:nvSpPr>
          <p:cNvPr id="8" name="Text 6"/>
          <p:cNvSpPr/>
          <p:nvPr/>
        </p:nvSpPr>
        <p:spPr>
          <a:xfrm>
            <a:off x="4937760" y="292608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99%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4937760" y="40233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accuracy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595360" y="2651760"/>
            <a:ext cx="3291840" cy="2103120"/>
          </a:xfrm>
          <a:prstGeom prst="roundRect">
            <a:avLst>
              <a:gd name="adj" fmla="val 4348"/>
            </a:avLst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8595360" y="292608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~50%</a:t>
            </a:r>
            <a:endParaRPr lang="en-US" sz="5200" dirty="0"/>
          </a:p>
        </p:txBody>
      </p:sp>
      <p:sp>
        <p:nvSpPr>
          <p:cNvPr id="12" name="Text 10"/>
          <p:cNvSpPr/>
          <p:nvPr/>
        </p:nvSpPr>
        <p:spPr>
          <a:xfrm>
            <a:off x="8595360" y="40233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answer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Powers ChatGPT?</a:t>
            </a:r>
            <a:endParaRPr lang="en-US" sz="3000" dirty="0"/>
          </a:p>
        </p:txBody>
      </p:sp>
      <p:pic>
        <p:nvPicPr>
          <p:cNvPr id="3" name="Image 0" descr="attention_dem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8720" y="1828800"/>
            <a:ext cx="9784080" cy="1764792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2194560" y="4800600"/>
            <a:ext cx="7772400" cy="685800"/>
          </a:xfrm>
          <a:prstGeom prst="roundRect">
            <a:avLst>
              <a:gd name="adj" fmla="val 10667"/>
            </a:avLst>
          </a:prstGeom>
          <a:solidFill>
            <a:srgbClr val="1E2761"/>
          </a:solidFill>
          <a:ln/>
        </p:spPr>
      </p:sp>
      <p:sp>
        <p:nvSpPr>
          <p:cNvPr id="5" name="Text 2"/>
          <p:cNvSpPr/>
          <p:nvPr/>
        </p:nvSpPr>
        <p:spPr>
          <a:xfrm>
            <a:off x="2194560" y="480060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Literally vectors, matrices, and probability — the last module ties it all together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Problem Types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520440" cy="4480560"/>
          </a:xfrm>
          <a:prstGeom prst="roundRect">
            <a:avLst>
              <a:gd name="adj" fmla="val 2597"/>
            </a:avLst>
          </a:prstGeom>
          <a:solidFill>
            <a:srgbClr val="EEF2FB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64592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Supervised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822960" y="2331720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7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Labeled examples — learning a mapping from input to output.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384048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22960" y="4160520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→ spam or not. House features → price.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297680" y="1371600"/>
            <a:ext cx="3520440" cy="4480560"/>
          </a:xfrm>
          <a:prstGeom prst="roundRect">
            <a:avLst>
              <a:gd name="adj" fmla="val 2597"/>
            </a:avLst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0" y="164592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Unsupervised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4572000" y="2331720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labels — finding structure in the data itself.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0" y="384048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0" y="4160520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segmentation. The compression demo you just saw.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046720" y="1371600"/>
            <a:ext cx="3520440" cy="4480560"/>
          </a:xfrm>
          <a:prstGeom prst="roundRect">
            <a:avLst>
              <a:gd name="adj" fmla="val 2597"/>
            </a:avLst>
          </a:prstGeom>
          <a:solidFill>
            <a:srgbClr val="EEF2FB"/>
          </a:solidFill>
          <a:ln/>
        </p:spPr>
      </p:sp>
      <p:sp>
        <p:nvSpPr>
          <p:cNvPr id="14" name="Text 12"/>
          <p:cNvSpPr/>
          <p:nvPr/>
        </p:nvSpPr>
        <p:spPr>
          <a:xfrm>
            <a:off x="8321040" y="164592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Reinforcement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8321040" y="2331720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7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agent learns from rewards and penalties through interaction.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321040" y="384048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321040" y="4160520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Game-playing AI, robotics.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Notation Reference</a:t>
            </a:r>
            <a:endParaRPr lang="en-US" sz="3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63040"/>
          <a:ext cx="10881360" cy="4206240"/>
        </p:xfrm>
        <a:graphic>
          <a:graphicData uri="http://schemas.openxmlformats.org/drawingml/2006/table">
            <a:tbl>
              <a:tblPr/>
              <a:tblGrid>
                <a:gridCol w="3840480"/>
                <a:gridCol w="3840480"/>
                <a:gridCol w="3200400"/>
              </a:tblGrid>
              <a:tr h="60089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Symbol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729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 (bold, lowercase)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729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Vector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729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 = (5, 2)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729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(bold, uppercase)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729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Matrix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729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= [[2,1],[3,4]]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729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Aᵀ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729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Transpose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729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rows ↔ columns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729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Σ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729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Summation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729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Σ xi over a set of terms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729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∇f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729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Gradient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729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direction of steepest ascent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729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f: ℝⁿ → ℝᵐ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729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Function mapping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729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 inputs → m outputs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Semester Roadmap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2606040" cy="1234440"/>
          </a:xfrm>
          <a:prstGeom prst="roundRect">
            <a:avLst>
              <a:gd name="adj" fmla="val 5926"/>
            </a:avLst>
          </a:prstGeom>
          <a:solidFill>
            <a:srgbClr val="EEF2FB"/>
          </a:solidFill>
          <a:ln/>
        </p:spPr>
      </p:sp>
      <p:sp>
        <p:nvSpPr>
          <p:cNvPr id="4" name="Shape 2"/>
          <p:cNvSpPr/>
          <p:nvPr/>
        </p:nvSpPr>
        <p:spPr>
          <a:xfrm>
            <a:off x="685800" y="1691640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691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" y="2121408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7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 &amp; Diagnostic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383280" y="1554480"/>
            <a:ext cx="2606040" cy="1234440"/>
          </a:xfrm>
          <a:prstGeom prst="roundRect">
            <a:avLst>
              <a:gd name="adj" fmla="val 5926"/>
            </a:avLst>
          </a:prstGeom>
          <a:solidFill>
            <a:srgbClr val="EEF2FB"/>
          </a:solidFill>
          <a:ln/>
        </p:spPr>
      </p:sp>
      <p:sp>
        <p:nvSpPr>
          <p:cNvPr id="8" name="Shape 6"/>
          <p:cNvSpPr/>
          <p:nvPr/>
        </p:nvSpPr>
        <p:spPr>
          <a:xfrm>
            <a:off x="3520440" y="1691640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3520440" y="1691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520440" y="2121408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7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Algebra I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217920" y="1554480"/>
            <a:ext cx="2606040" cy="1234440"/>
          </a:xfrm>
          <a:prstGeom prst="roundRect">
            <a:avLst>
              <a:gd name="adj" fmla="val 5926"/>
            </a:avLst>
          </a:prstGeom>
          <a:solidFill>
            <a:srgbClr val="EEF2FB"/>
          </a:solidFill>
          <a:ln/>
        </p:spPr>
      </p:sp>
      <p:sp>
        <p:nvSpPr>
          <p:cNvPr id="12" name="Shape 10"/>
          <p:cNvSpPr/>
          <p:nvPr/>
        </p:nvSpPr>
        <p:spPr>
          <a:xfrm>
            <a:off x="6355080" y="1691640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6355080" y="1691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355080" y="2121408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7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Decompositions (SVD)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9052560" y="1554480"/>
            <a:ext cx="2606040" cy="1234440"/>
          </a:xfrm>
          <a:prstGeom prst="roundRect">
            <a:avLst>
              <a:gd name="adj" fmla="val 5926"/>
            </a:avLst>
          </a:prstGeom>
          <a:solidFill>
            <a:srgbClr val="EEF2FB"/>
          </a:solidFill>
          <a:ln/>
        </p:spPr>
      </p:sp>
      <p:sp>
        <p:nvSpPr>
          <p:cNvPr id="16" name="Shape 14"/>
          <p:cNvSpPr/>
          <p:nvPr/>
        </p:nvSpPr>
        <p:spPr>
          <a:xfrm>
            <a:off x="9189720" y="1691640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9189720" y="1691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189720" y="2121408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7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&amp; Projections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3063240"/>
            <a:ext cx="2606040" cy="1234440"/>
          </a:xfrm>
          <a:prstGeom prst="roundRect">
            <a:avLst>
              <a:gd name="adj" fmla="val 5926"/>
            </a:avLst>
          </a:prstGeom>
          <a:solidFill>
            <a:srgbClr val="EEF2FB"/>
          </a:solidFill>
          <a:ln/>
        </p:spPr>
      </p:sp>
      <p:sp>
        <p:nvSpPr>
          <p:cNvPr id="20" name="Shape 18"/>
          <p:cNvSpPr/>
          <p:nvPr/>
        </p:nvSpPr>
        <p:spPr>
          <a:xfrm>
            <a:off x="685800" y="3200400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32004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85800" y="3630168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7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Multivariable Calc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3383280" y="3063240"/>
            <a:ext cx="2606040" cy="1234440"/>
          </a:xfrm>
          <a:prstGeom prst="roundRect">
            <a:avLst>
              <a:gd name="adj" fmla="val 5926"/>
            </a:avLst>
          </a:prstGeom>
          <a:solidFill>
            <a:srgbClr val="EEF2FB"/>
          </a:solidFill>
          <a:ln/>
        </p:spPr>
      </p:sp>
      <p:sp>
        <p:nvSpPr>
          <p:cNvPr id="24" name="Shape 22"/>
          <p:cNvSpPr/>
          <p:nvPr/>
        </p:nvSpPr>
        <p:spPr>
          <a:xfrm>
            <a:off x="3520440" y="3200400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5" name="Text 23"/>
          <p:cNvSpPr/>
          <p:nvPr/>
        </p:nvSpPr>
        <p:spPr>
          <a:xfrm>
            <a:off x="3520440" y="32004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520440" y="3630168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7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 &amp; Clustering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217920" y="3063240"/>
            <a:ext cx="2606040" cy="1234440"/>
          </a:xfrm>
          <a:prstGeom prst="roundRect">
            <a:avLst>
              <a:gd name="adj" fmla="val 5926"/>
            </a:avLst>
          </a:prstGeom>
          <a:solidFill>
            <a:srgbClr val="EEF2FB"/>
          </a:solidFill>
          <a:ln/>
        </p:spPr>
      </p:sp>
      <p:sp>
        <p:nvSpPr>
          <p:cNvPr id="28" name="Shape 26"/>
          <p:cNvSpPr/>
          <p:nvPr/>
        </p:nvSpPr>
        <p:spPr>
          <a:xfrm>
            <a:off x="6355080" y="3200400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9" name="Text 27"/>
          <p:cNvSpPr/>
          <p:nvPr/>
        </p:nvSpPr>
        <p:spPr>
          <a:xfrm>
            <a:off x="6355080" y="32004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355080" y="3630168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7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&amp; Stats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9052560" y="3063240"/>
            <a:ext cx="2606040" cy="1234440"/>
          </a:xfrm>
          <a:prstGeom prst="roundRect">
            <a:avLst>
              <a:gd name="adj" fmla="val 5926"/>
            </a:avLst>
          </a:prstGeom>
          <a:solidFill>
            <a:srgbClr val="EEF2FB"/>
          </a:solidFill>
          <a:ln/>
        </p:spPr>
      </p:sp>
      <p:sp>
        <p:nvSpPr>
          <p:cNvPr id="32" name="Shape 30"/>
          <p:cNvSpPr/>
          <p:nvPr/>
        </p:nvSpPr>
        <p:spPr>
          <a:xfrm>
            <a:off x="9189720" y="3200400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3" name="Text 31"/>
          <p:cNvSpPr/>
          <p:nvPr/>
        </p:nvSpPr>
        <p:spPr>
          <a:xfrm>
            <a:off x="9189720" y="32004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9189720" y="3630168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7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548640" y="4572000"/>
            <a:ext cx="2606040" cy="1234440"/>
          </a:xfrm>
          <a:prstGeom prst="roundRect">
            <a:avLst>
              <a:gd name="adj" fmla="val 5926"/>
            </a:avLst>
          </a:prstGeom>
          <a:solidFill>
            <a:srgbClr val="EEF2FB"/>
          </a:solidFill>
          <a:ln/>
        </p:spPr>
      </p:sp>
      <p:sp>
        <p:nvSpPr>
          <p:cNvPr id="36" name="Shape 34"/>
          <p:cNvSpPr/>
          <p:nvPr/>
        </p:nvSpPr>
        <p:spPr>
          <a:xfrm>
            <a:off x="685800" y="4709160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7" name="Text 35"/>
          <p:cNvSpPr/>
          <p:nvPr/>
        </p:nvSpPr>
        <p:spPr>
          <a:xfrm>
            <a:off x="685800" y="4709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685800" y="5138928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7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Theory</a:t>
            </a:r>
            <a:endParaRPr lang="en-US" sz="1250" dirty="0"/>
          </a:p>
        </p:txBody>
      </p:sp>
      <p:sp>
        <p:nvSpPr>
          <p:cNvPr id="39" name="Shape 37"/>
          <p:cNvSpPr/>
          <p:nvPr/>
        </p:nvSpPr>
        <p:spPr>
          <a:xfrm>
            <a:off x="3383280" y="4572000"/>
            <a:ext cx="2606040" cy="1234440"/>
          </a:xfrm>
          <a:prstGeom prst="roundRect">
            <a:avLst>
              <a:gd name="adj" fmla="val 5926"/>
            </a:avLst>
          </a:prstGeom>
          <a:solidFill>
            <a:srgbClr val="EEF2FB"/>
          </a:solidFill>
          <a:ln/>
        </p:spPr>
      </p:sp>
      <p:sp>
        <p:nvSpPr>
          <p:cNvPr id="40" name="Shape 38"/>
          <p:cNvSpPr/>
          <p:nvPr/>
        </p:nvSpPr>
        <p:spPr>
          <a:xfrm>
            <a:off x="3520440" y="4709160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1" name="Text 39"/>
          <p:cNvSpPr/>
          <p:nvPr/>
        </p:nvSpPr>
        <p:spPr>
          <a:xfrm>
            <a:off x="3520440" y="4709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3520440" y="5138928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7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Fourier Methods</a:t>
            </a:r>
            <a:endParaRPr lang="en-US" sz="1250" dirty="0"/>
          </a:p>
        </p:txBody>
      </p:sp>
      <p:sp>
        <p:nvSpPr>
          <p:cNvPr id="43" name="Shape 41"/>
          <p:cNvSpPr/>
          <p:nvPr/>
        </p:nvSpPr>
        <p:spPr>
          <a:xfrm>
            <a:off x="6217920" y="4572000"/>
            <a:ext cx="2606040" cy="1234440"/>
          </a:xfrm>
          <a:prstGeom prst="roundRect">
            <a:avLst>
              <a:gd name="adj" fmla="val 5926"/>
            </a:avLst>
          </a:prstGeom>
          <a:solidFill>
            <a:srgbClr val="1E2761"/>
          </a:solidFill>
          <a:ln/>
        </p:spPr>
      </p:sp>
      <p:sp>
        <p:nvSpPr>
          <p:cNvPr id="44" name="Shape 42"/>
          <p:cNvSpPr/>
          <p:nvPr/>
        </p:nvSpPr>
        <p:spPr>
          <a:xfrm>
            <a:off x="6355080" y="4709160"/>
            <a:ext cx="365760" cy="365760"/>
          </a:xfrm>
          <a:prstGeom prst="ellipse">
            <a:avLst/>
          </a:prstGeom>
          <a:solidFill>
            <a:srgbClr val="E8871E"/>
          </a:solidFill>
          <a:ln/>
        </p:spPr>
      </p:sp>
      <p:sp>
        <p:nvSpPr>
          <p:cNvPr id="45" name="Text 43"/>
          <p:cNvSpPr/>
          <p:nvPr/>
        </p:nvSpPr>
        <p:spPr>
          <a:xfrm>
            <a:off x="6355080" y="4709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6355080" y="5138928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 to Modern AI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Quick Diagnostic — Ungraded</a:t>
            </a:r>
            <a:endParaRPr lang="en-US" sz="3200" dirty="0"/>
          </a:p>
        </p:txBody>
      </p:sp>
      <p:pic>
        <p:nvPicPr>
          <p:cNvPr id="3" name="Image 0" descr="diagnostic_q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554480"/>
            <a:ext cx="3291840" cy="32918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0" y="1737360"/>
            <a:ext cx="67665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27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10–15 minutes, whenever suits you in the next 48 hours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27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account needed — just click and go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27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You'll see your own results immediately — that's for you, not graded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27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Helps calibrate the early review material to where this class is starting from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4572000" y="4572000"/>
            <a:ext cx="5120640" cy="594360"/>
          </a:xfrm>
          <a:prstGeom prst="roundRect">
            <a:avLst>
              <a:gd name="adj" fmla="val 12308"/>
            </a:avLst>
          </a:prstGeom>
          <a:solidFill>
            <a:srgbClr val="EEF2FB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0" y="4572000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forms.gle/UoxXLxAQ7kBtEvLx7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548640" y="3840480"/>
            <a:ext cx="27432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0" dirty="0">
                <a:solidFill>
                  <a:srgbClr val="2A3A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∫</a:t>
            </a:r>
            <a:endParaRPr lang="en-US" sz="26000" dirty="0"/>
          </a:p>
        </p:txBody>
      </p:sp>
      <p:sp>
        <p:nvSpPr>
          <p:cNvPr id="3" name="Text 1"/>
          <p:cNvSpPr/>
          <p:nvPr/>
        </p:nvSpPr>
        <p:spPr>
          <a:xfrm>
            <a:off x="731520" y="192024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Session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2468880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Linear Algebra Foundations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31520" y="374904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2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698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Backup — Bayes' Theorem Worked Out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7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10,000 people:</a:t>
            </a:r>
            <a:endParaRPr lang="en-US" sz="15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00200"/>
          <a:ext cx="10881360" cy="1645920"/>
        </p:xfrm>
        <a:graphic>
          <a:graphicData uri="http://schemas.openxmlformats.org/drawingml/2006/table">
            <a:tbl>
              <a:tblPr/>
              <a:tblGrid>
                <a:gridCol w="2743200"/>
                <a:gridCol w="4069080"/>
                <a:gridCol w="406908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Has disease (100)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disease (9,900)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729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Tests positive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729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 (true positive)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729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 (false positive)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729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Tests negative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729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(false negative)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729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9,801 (true negative)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40080" y="3520440"/>
            <a:ext cx="10881360" cy="1371600"/>
          </a:xfrm>
          <a:prstGeom prst="roundRect">
            <a:avLst>
              <a:gd name="adj" fmla="val 5333"/>
            </a:avLst>
          </a:prstGeom>
          <a:solidFill>
            <a:srgbClr val="EEF2FB"/>
          </a:solidFill>
          <a:ln/>
        </p:spPr>
      </p:sp>
      <p:sp>
        <p:nvSpPr>
          <p:cNvPr id="6" name="Text 3"/>
          <p:cNvSpPr/>
          <p:nvPr/>
        </p:nvSpPr>
        <p:spPr>
          <a:xfrm>
            <a:off x="640080" y="3520440"/>
            <a:ext cx="10881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27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P(disease | positive) = </a:t>
            </a:r>
            <a:pPr algn="ctr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 / (99 + 99)</a:t>
            </a:r>
            <a:pPr algn="ctr" indent="0" marL="0">
              <a:buNone/>
            </a:pPr>
            <a:r>
              <a:rPr lang="en-US" sz="2600" dirty="0">
                <a:solidFill>
                  <a:srgbClr val="27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= </a:t>
            </a:r>
            <a:pPr algn="ctr" indent="0" marL="0">
              <a:buNone/>
            </a:pPr>
            <a:r>
              <a:rPr lang="en-US" sz="26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~50%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640080" y="507492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positives (198) split almost evenly between real and false positives — because the healthy population (9,900) is so much larger than the sick population (100), even a small false-positive rate produces a lot of false alarms.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698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Backup — Why Does k = 50 Work?</a:t>
            </a:r>
            <a:endParaRPr lang="en-US" sz="2600" dirty="0"/>
          </a:p>
        </p:txBody>
      </p:sp>
      <p:pic>
        <p:nvPicPr>
          <p:cNvPr id="3" name="Image 0" descr="backup_svd_spectru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8720" y="1097280"/>
            <a:ext cx="9784080" cy="3803904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2651760" y="5074920"/>
            <a:ext cx="6858000" cy="640080"/>
          </a:xfrm>
          <a:prstGeom prst="roundRect">
            <a:avLst>
              <a:gd name="adj" fmla="val 11429"/>
            </a:avLst>
          </a:prstGeom>
          <a:solidFill>
            <a:srgbClr val="1E2761"/>
          </a:solidFill>
          <a:ln/>
        </p:spPr>
      </p:sp>
      <p:sp>
        <p:nvSpPr>
          <p:cNvPr id="5" name="Text 2"/>
          <p:cNvSpPr/>
          <p:nvPr/>
        </p:nvSpPr>
        <p:spPr>
          <a:xfrm>
            <a:off x="2651760" y="507492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50 components capture </a:t>
            </a:r>
            <a:pPr algn="ctr" indent="0" marL="0">
              <a:buNone/>
            </a:pPr>
            <a:r>
              <a:rPr lang="en-US" sz="1500" b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98.4%</a:t>
            </a:r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the image's total signal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698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Backup — Inside Self-Attention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645920" y="1371600"/>
            <a:ext cx="8869680" cy="1371600"/>
          </a:xfrm>
          <a:prstGeom prst="roundRect">
            <a:avLst>
              <a:gd name="adj" fmla="val 6667"/>
            </a:avLst>
          </a:prstGeom>
          <a:solidFill>
            <a:srgbClr val="EEF2FB"/>
          </a:solidFill>
          <a:ln/>
        </p:spPr>
      </p:sp>
      <p:sp>
        <p:nvSpPr>
          <p:cNvPr id="4" name="Text 2"/>
          <p:cNvSpPr/>
          <p:nvPr/>
        </p:nvSpPr>
        <p:spPr>
          <a:xfrm>
            <a:off x="1645920" y="1371600"/>
            <a:ext cx="8869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Attention(Q, K, V) = softmax( QK</a:t>
            </a:r>
            <a:pPr algn="ctr" indent="0" marL="0">
              <a:buNone/>
            </a:pPr>
            <a:r>
              <a:rPr lang="en-US" sz="2600" b="1" baseline="300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</a:t>
            </a:r>
            <a:pPr algn="ctr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/ √d ) V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22960" y="306324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(Query)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474720" y="30632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7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 am I looking for?" — a vector per word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3630168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(Key)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474720" y="3630168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7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 do I contain?" — a vector per word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4197096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(Value)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474720" y="4197096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7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 do I actually pass along?" — a vector per word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4764024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QK</a:t>
            </a:r>
            <a:pPr indent="0" marL="0">
              <a:buNone/>
            </a:pPr>
            <a:r>
              <a:rPr lang="en-US" sz="1500" b="1" baseline="30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474720" y="4764024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7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well each word's query matches every other word's key — just a matrix product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533095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softmax( · )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474720" y="5330952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7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those match scores into probability weights — same softmax used in classification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2026-08-28T12:51:36Z</dcterms:created>
  <dcterms:modified xsi:type="dcterms:W3CDTF">2026-08-28T12:51:36Z</dcterms:modified>
</cp:coreProperties>
</file>