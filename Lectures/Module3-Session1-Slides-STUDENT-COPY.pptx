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91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OF 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Some Directions Are Special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33375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Determinant, Trace &amp; Eigenvalues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 for Data Science &amp; Computational Intelligence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6309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Mohsin Raza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Session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618488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 to the chain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692640" y="1618488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44144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414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71600" y="2459736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a matrix do?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92640" y="2459736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282696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826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300984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 &amp; trace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9692640" y="3300984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min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123944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12394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371600" y="4142232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Eigenvalues, computed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9692640" y="4142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40080" y="4965192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9651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71600" y="4983480"/>
            <a:ext cx="7498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&amp; bridge to Session 2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92640" y="49834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RECONNECT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 So Far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A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1–2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Vectors, matrices,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systems &amp; projections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84048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2976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905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2976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05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a matrix have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special directions?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498080" y="2880360"/>
            <a:ext cx="457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7955280" y="2286000"/>
            <a:ext cx="32004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8FA8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552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Module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138160" y="2971800"/>
            <a:ext cx="2834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Decompose any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matrix into simple pieces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4617720"/>
            <a:ext cx="10241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matrix acts on vectors — stretching, rotating, sometimes collapsing them. Today's question: are there directions a matrix leaves alone, only scaling? That question is the seed of everything this module builds.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a Matrix Do?</a:t>
            </a:r>
            <a:endParaRPr lang="en-US" sz="3200" dirty="0"/>
          </a:p>
        </p:txBody>
      </p:sp>
      <p:pic>
        <p:nvPicPr>
          <p:cNvPr id="4" name="Image 0" descr="assets/circle_to_ellip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554480"/>
            <a:ext cx="5577840" cy="4617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2011680"/>
            <a:ext cx="51206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2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 apply A to every point on the unit circle…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What shape comes out?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Is every point stretched the same amount, in the same direction?</a:t>
            </a:r>
            <a:endParaRPr lang="en-US" sz="17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Are there directions that only get scaled — not rotated?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492240" y="521208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axes: e₁ and e₂ map to Ae₁ and Ae₂ — same length change, but does the direction survive?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QUESTION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Any Directions Survive?</a:t>
            </a:r>
            <a:endParaRPr lang="en-US" sz="3200" dirty="0"/>
          </a:p>
        </p:txBody>
      </p:sp>
      <p:pic>
        <p:nvPicPr>
          <p:cNvPr id="4" name="Image 0" descr="assets/eigen_vs_ax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11064240" cy="3520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3492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axes don't survive A = [[3,1],[1,3]] intact — but some other pair of directions does: they only get longer or shorter, never rotated.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32720" y="51206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0" b="1" dirty="0">
                <a:solidFill>
                  <a:srgbClr val="FFFFFF">
                    <a:alpha val="1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Eigenvectors &amp; Eigenvalues, Defined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 = λv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822960" y="2880360"/>
            <a:ext cx="5029200" cy="0"/>
          </a:xfrm>
          <a:prstGeom prst="line">
            <a:avLst/>
          </a:prstGeom>
          <a:noFill/>
          <a:ln w="12700">
            <a:solidFill>
              <a:srgbClr val="8FA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3154680"/>
            <a:ext cx="86868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Eigenvector (v): 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direction A doesn't rotate off of — only stretches, shrinks, or flips.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 (λ): </a:t>
            </a:r>
            <a:endParaRPr lang="en-US" sz="1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scale factor along that direction.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22960" y="566928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matrix can have several eigenvector directions — each with its own eigenvalue.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DETERMINANT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Area?</a:t>
            </a:r>
            <a:endParaRPr lang="en-US" sz="3200" dirty="0"/>
          </a:p>
        </p:txBody>
      </p:sp>
      <p:pic>
        <p:nvPicPr>
          <p:cNvPr id="4" name="Image 0" descr="assets/determinant_are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600200"/>
            <a:ext cx="11247120" cy="3749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48640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determinant is the scale factor a matrix applies to area (or volume, in higher dimensions).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det(A) = 0: A Dimension Is Destroyed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6675120" cy="393192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11680"/>
            <a:ext cx="603504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det(A) = 0, the transformation collapses space — information is destroyed and can't be recovered.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“rank-deficient” meant on the diagnostic: redundant rows/columns, a collapsed dimension, and no way to undo the map.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7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inverse exists when det(A) = 0.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0" y="2377440"/>
            <a:ext cx="3291840" cy="329184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0" y="36118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 = 0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0" y="40690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no inverse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CONNECTION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Determinant, Trace &amp; Eigenvalues</a:t>
            </a:r>
            <a:endParaRPr lang="en-US" sz="3200" dirty="0"/>
          </a:p>
        </p:txBody>
      </p:sp>
      <p:pic>
        <p:nvPicPr>
          <p:cNvPr id="4" name="Image 0" descr="assets/det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37360"/>
            <a:ext cx="7315200" cy="2606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4663440"/>
            <a:ext cx="10241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won't derive this today — it's a short, elegant proof in the optional bonus notes. Worth knowing it exists: eigenvalues carry the same information as determinant and trace, just split apart.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&amp; EIGENVECTORS, COMPUTED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Worked Example</a:t>
            </a:r>
            <a:endParaRPr lang="en-US" sz="3200" dirty="0"/>
          </a:p>
        </p:txBody>
      </p:sp>
      <p:pic>
        <p:nvPicPr>
          <p:cNvPr id="4" name="Image 0" descr="assets/worked_examp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0" y="1417320"/>
            <a:ext cx="8138160" cy="4160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recipe every time: build the characteristic polynomial det(A−λI)=0, solve for λ, then solve (A−λI)v=0 for each eigenvalue.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PRACTICE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Turn</a:t>
            </a:r>
            <a:endParaRPr lang="en-US" sz="3200" dirty="0"/>
          </a:p>
        </p:txBody>
      </p:sp>
      <p:pic>
        <p:nvPicPr>
          <p:cNvPr id="4" name="Image 0" descr="assets/practice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20240"/>
            <a:ext cx="3931920" cy="1920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12080" y="2103120"/>
            <a:ext cx="5943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b="1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together: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Build the characteristic polynomial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Solve for λ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Find each eigenvector v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22960" y="411480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(Answer: λ = 6, 1)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FRAMING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This Shows Up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4401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8580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PageRank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Google's original ranking algorithm is an eigenvector problem.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83280" y="178308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7482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27482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2044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Structural &amp; Vibration Analysis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66160" y="388620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Eigenvalues predict resonance and failure modes in engineering.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10946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0946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Systems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400800" y="388620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Stability of a controlled system is an eigenvalue question.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052560" y="1783080"/>
            <a:ext cx="2606040" cy="3931920"/>
          </a:xfrm>
          <a:prstGeom prst="roundRect">
            <a:avLst>
              <a:gd name="adj" fmla="val 3509"/>
            </a:avLst>
          </a:prstGeom>
          <a:solidFill>
            <a:srgbClr val="F4F6FB"/>
          </a:solidFill>
          <a:ln w="12700">
            <a:solidFill>
              <a:srgbClr val="8FA8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94410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994410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87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189720" y="310896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PCA (Session 4)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35440" y="388620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top eigenvector of a covariance matrix is the first principal component.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692640" y="3291840"/>
            <a:ext cx="14630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0" b="1" dirty="0">
                <a:solidFill>
                  <a:srgbClr val="FFFFFF">
                    <a:alpha val="10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λ</a:t>
            </a:r>
            <a:endParaRPr lang="en-US" sz="34000" dirty="0"/>
          </a:p>
        </p:txBody>
      </p:sp>
      <p:sp>
        <p:nvSpPr>
          <p:cNvPr id="3" name="Text 1"/>
          <p:cNvSpPr/>
          <p:nvPr/>
        </p:nvSpPr>
        <p:spPr>
          <a:xfrm>
            <a:off x="82296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 — CLOSE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240280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matrix has special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directions it only scales.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822960" y="4023360"/>
            <a:ext cx="85039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session: what happens when we rebuild the whole matrix out of these directions — and why that idea needs to go further than square matrices alone.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MML §4.1–4.2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2×2 Determinant Formula</a:t>
            </a:r>
            <a:endParaRPr lang="en-US" sz="2800" dirty="0"/>
          </a:p>
        </p:txBody>
      </p:sp>
      <p:pic>
        <p:nvPicPr>
          <p:cNvPr id="4" name="Image 0" descr="assets/det_tr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0" y="1645920"/>
            <a:ext cx="4023360" cy="1444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6766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= </a:t>
            </a:r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[[a,b],[c,d]]</a:t>
            </a:r>
            <a:pPr indent="0" marL="0">
              <a:buNone/>
            </a:pPr>
            <a:r>
              <a:rPr lang="en-US" sz="17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determinant ad − bc falls straight out of tracking how the unit square's area changes under the map — no need to memorize it as a rule from nowhere.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48640" y="3566160"/>
            <a:ext cx="10789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3×3 and larger: cofactor expansion along any row or column — shown on the board if it comes up, not required for this course's core assessment.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Eigenvalues at Scale: Power Iteration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characteristic-polynomial method doesn't scale — for a 10,000×10,000 matrix you can't factor a degree-10,000 polynomial by hand or practically by computer.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iteration: repeatedly multiply a random vector by A and renormalize — it converges to the eigenvector with the largest eigenvalue.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closer to what real systems (including PageRank) actually do.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83768" y="4709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3768" y="4709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712568" y="4709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3032608" y="4709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32608" y="4709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Av₀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61408" y="4709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181448" y="4709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181448" y="4709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A²v₀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010248" y="4709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330288" y="4709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F4F6FB"/>
          </a:solidFill>
          <a:ln w="15875">
            <a:solidFill>
              <a:srgbClr val="8FA8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0288" y="4709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…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59088" y="4709160"/>
            <a:ext cx="320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FA8E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9479128" y="4709160"/>
            <a:ext cx="1828800" cy="777240"/>
          </a:xfrm>
          <a:prstGeom prst="roundRect">
            <a:avLst>
              <a:gd name="adj" fmla="val 9412"/>
            </a:avLst>
          </a:prstGeom>
          <a:solidFill>
            <a:srgbClr val="E8871E"/>
          </a:solidFill>
          <a:ln w="15875">
            <a:solidFill>
              <a:srgbClr val="E8871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479128" y="4709160"/>
            <a:ext cx="1828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 (top eigenvector)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87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Preview: PCA via the Covariance Matrix</a:t>
            </a:r>
            <a:endParaRPr lang="en-US" sz="2800" dirty="0"/>
          </a:p>
        </p:txBody>
      </p:sp>
      <p:pic>
        <p:nvPicPr>
          <p:cNvPr id="4" name="Image 0" descr="assets/pca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0" y="1600200"/>
            <a:ext cx="393192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554480"/>
            <a:ext cx="685800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4 computes PCA via SVD of the data matrix directly. The classic textbook route goes through eigenvectors instead — useful to see both: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Center the data, compute the covariance matrix C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Find C's eigenvectors — ranked by eigenvalue (= variance captured)</a:t>
            </a:r>
            <a:endParaRPr lang="en-US" sz="16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4A4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The top eigenvector is the first principal component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· Session 1 — Decompositions 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0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3 Session 1</dc:title>
  <dc:subject/>
  <dc:creator>Mohsin Raza</dc:creator>
  <cp:lastModifiedBy>Mohsin Raza</cp:lastModifiedBy>
  <cp:revision>1</cp:revision>
  <dcterms:created xsi:type="dcterms:W3CDTF">2026-09-08T11:44:26Z</dcterms:created>
  <dcterms:modified xsi:type="dcterms:W3CDTF">2026-09-08T11:44:26Z</dcterms:modified>
  <dc:description/>
  <cp:keywords/>
</cp:coreProperties>
</file>